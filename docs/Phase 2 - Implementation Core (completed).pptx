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85" r:id="rId36"/>
    <p:sldId id="286" r:id="rId37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1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2245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746761"/>
            <a:ext cx="1097280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700" dirty="0">
                <a:solidFill>
                  <a:srgbClr val="142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7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609600" y="1428751"/>
            <a:ext cx="10769600" cy="4616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84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746761"/>
            <a:ext cx="1097280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700" dirty="0">
                <a:solidFill>
                  <a:srgbClr val="142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7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609600" y="1428751"/>
            <a:ext cx="10769600" cy="4616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84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1597660"/>
            <a:ext cx="104648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Implementation Core</a:t>
            </a:r>
            <a:endParaRPr lang="en-US" sz="16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1016000" y="2059940"/>
            <a:ext cx="10464800" cy="6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30"/>
              </a:lnSpc>
              <a:buNone/>
            </a:pPr>
            <a:r>
              <a:rPr lang="en-US" sz="4600" b="1" i="0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Learning Platform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1016000" y="2851150"/>
            <a:ext cx="104648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implementation, data population and business logic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16000" y="3348990"/>
            <a:ext cx="1270000" cy="19050"/>
          </a:xfrm>
          <a:prstGeom prst="rect">
            <a:avLst/>
          </a:prstGeom>
          <a:solidFill>
            <a:srgbClr val="9AA3B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1016000" y="3545840"/>
            <a:ext cx="196215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21000" y="3545840"/>
            <a:ext cx="850265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 Singh (25BBS0115)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Soham Anup Hippalgaonkar (25BDS0201)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Chethan Kumar Konduru (25BAI0182)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Vishnuprasad AR (25BCB0143)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16000" y="4688840"/>
            <a:ext cx="196215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21000" y="4688840"/>
            <a:ext cx="850265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BACSE202 Database Systems, VIT Vellore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16000" y="4974590"/>
            <a:ext cx="196215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21000" y="4974590"/>
            <a:ext cx="850265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Somasundaram R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· Phase 1 foundation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746760"/>
            <a:ext cx="11301984" cy="40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i="0" dirty="0">
                <a:solidFill>
                  <a:srgbClr val="14284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From Phase 1 to Phase 2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50950"/>
            <a:ext cx="501836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84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Problem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09600" y="1593850"/>
            <a:ext cx="5018362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practise from fixed quiz and project lists that ignore past performance, so weak topics stay weak.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600" y="2188210"/>
            <a:ext cx="501836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84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Approach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06882" y="2531110"/>
            <a:ext cx="4913460" cy="98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6718" indent="-156718" algn="l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every attempt</a:t>
            </a:r>
            <a:endParaRPr lang="en-US" sz="1400" dirty="0"/>
          </a:p>
          <a:p>
            <a:pPr marL="156718" indent="-156718" algn="l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each topic</a:t>
            </a:r>
            <a:endParaRPr lang="en-US" sz="1400" dirty="0"/>
          </a:p>
          <a:p>
            <a:pPr marL="156718" indent="-156718" algn="l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weak topics</a:t>
            </a:r>
            <a:endParaRPr lang="en-US" sz="1400" dirty="0"/>
          </a:p>
          <a:p>
            <a:pPr marL="156718" indent="-156718" algn="l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 quizzes and projects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45956" y="1261110"/>
          <a:ext cx="5836444" cy="2517140"/>
        </p:xfrm>
        <a:graphic>
          <a:graphicData uri="http://schemas.openxmlformats.org/drawingml/2006/table">
            <a:tbl>
              <a:tblPr/>
              <a:tblGrid>
                <a:gridCol w="29182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82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1 group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69850" marB="698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69850" marB="69850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 entities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69850" marB="698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users, topic, learning_item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69850" marB="698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Subclasses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69850" marB="698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quiz, project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69850" marB="698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Multivalued attribute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69850" marB="698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project_tech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69850" marB="698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Weak entity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69850" marB="698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question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69850" marB="698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14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Many-to-many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69850" marB="698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learning_record, topic_proficiency, recommendation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69850" marB="698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28650" y="3905250"/>
            <a:ext cx="0" cy="214630"/>
          </a:xfrm>
          <a:prstGeom prst="line">
            <a:avLst/>
          </a:prstGeom>
          <a:noFill/>
          <a:ln w="38100">
            <a:solidFill>
              <a:srgbClr val="C9962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Text 7"/>
          <p:cNvSpPr/>
          <p:nvPr/>
        </p:nvSpPr>
        <p:spPr>
          <a:xfrm>
            <a:off x="772160" y="3905250"/>
            <a:ext cx="11134547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Phase 1 design has 10 tables linked by 12 foreign keys, all in 3NF. Phase 2 implements it in PostgreSQL.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09600" y="6365241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Learning Platform · Phase 2 ·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 · Database implementation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746761"/>
            <a:ext cx="11301984" cy="40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i="0" dirty="0">
                <a:solidFill>
                  <a:srgbClr val="14284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DDL Scripts: From Relational Model to PostgreSQL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50950"/>
            <a:ext cx="11301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Implementing the Phase 1 schema with keys and constraints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600" y="1626870"/>
            <a:ext cx="1828800" cy="1041400"/>
          </a:xfrm>
          <a:prstGeom prst="roundRect">
            <a:avLst>
              <a:gd name="adj" fmla="val 7317"/>
            </a:avLst>
          </a:prstGeom>
          <a:solidFill>
            <a:srgbClr val="14284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673100" y="1791970"/>
            <a:ext cx="1701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73100" y="2005330"/>
            <a:ext cx="170180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relational schema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27300" y="1951991"/>
            <a:ext cx="33528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895600" y="1626870"/>
            <a:ext cx="1828800" cy="1041400"/>
          </a:xfrm>
          <a:prstGeom prst="roundRect">
            <a:avLst>
              <a:gd name="adj" fmla="val 7317"/>
            </a:avLst>
          </a:prstGeom>
          <a:solidFill>
            <a:srgbClr val="14284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2959100" y="1791970"/>
            <a:ext cx="1701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59100" y="2005330"/>
            <a:ext cx="170180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TABLE statements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13300" y="1951991"/>
            <a:ext cx="33528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181600" y="1626870"/>
            <a:ext cx="1828800" cy="1041400"/>
          </a:xfrm>
          <a:prstGeom prst="roundRect">
            <a:avLst>
              <a:gd name="adj" fmla="val 7317"/>
            </a:avLst>
          </a:prstGeom>
          <a:solidFill>
            <a:srgbClr val="14284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4" name="Text 12"/>
          <p:cNvSpPr/>
          <p:nvPr/>
        </p:nvSpPr>
        <p:spPr>
          <a:xfrm>
            <a:off x="5245100" y="1791970"/>
            <a:ext cx="1701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45100" y="2005330"/>
            <a:ext cx="170180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 and constraints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99300" y="1951991"/>
            <a:ext cx="33528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467600" y="1751330"/>
            <a:ext cx="1828800" cy="792480"/>
          </a:xfrm>
          <a:prstGeom prst="roundRect">
            <a:avLst>
              <a:gd name="adj" fmla="val 9615"/>
            </a:avLst>
          </a:prstGeom>
          <a:solidFill>
            <a:srgbClr val="14284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8" name="Text 16"/>
          <p:cNvSpPr/>
          <p:nvPr/>
        </p:nvSpPr>
        <p:spPr>
          <a:xfrm>
            <a:off x="7531100" y="1916430"/>
            <a:ext cx="1701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31100" y="2129791"/>
            <a:ext cx="170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creation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385300" y="1951991"/>
            <a:ext cx="33528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753600" y="1626870"/>
            <a:ext cx="1828800" cy="1041400"/>
          </a:xfrm>
          <a:prstGeom prst="roundRect">
            <a:avLst>
              <a:gd name="adj" fmla="val 7317"/>
            </a:avLst>
          </a:prstGeom>
          <a:solidFill>
            <a:srgbClr val="14284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2" name="Text 20"/>
          <p:cNvSpPr/>
          <p:nvPr/>
        </p:nvSpPr>
        <p:spPr>
          <a:xfrm>
            <a:off x="9817100" y="1791970"/>
            <a:ext cx="1701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817100" y="2005330"/>
            <a:ext cx="170180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verification</a:t>
            </a:r>
            <a:endParaRPr lang="en-US" sz="1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760" y="2805430"/>
          <a:ext cx="10962640" cy="2468880"/>
        </p:xfrm>
        <a:graphic>
          <a:graphicData uri="http://schemas.openxmlformats.org/drawingml/2006/table">
            <a:tbl>
              <a:tblPr/>
              <a:tblGrid>
                <a:gridCol w="5481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1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76200" marB="762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76200" marB="76200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Database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76200" marB="762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PostgreSQL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76200" marB="762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76200" marB="762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76200" marB="762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keys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76200" marB="762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Single-column and composite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76200" marB="762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Relationships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76200" marB="762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Implemented using 12 foreign keys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76200" marB="762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 constraints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76200" marB="762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difficulty and item_type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76200" marB="762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609600" y="6365241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Learning Platform · Phase 2 · 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365239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Learning Platform · Phase 2 ·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600" y="406400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 · Database implementation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609600" y="749300"/>
            <a:ext cx="11301984" cy="40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i="0" dirty="0">
                <a:solidFill>
                  <a:srgbClr val="14284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DDL Scripts for Strong Entities (1 of 2)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28650" y="4035028"/>
            <a:ext cx="0" cy="431800"/>
          </a:xfrm>
          <a:prstGeom prst="line">
            <a:avLst/>
          </a:prstGeom>
          <a:noFill/>
          <a:ln w="38100">
            <a:solidFill>
              <a:srgbClr val="C9962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772160" y="4035028"/>
            <a:ext cx="11134547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users:</a:t>
            </a:r>
            <a:r>
              <a:rPr lang="en-US" sz="13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primary key, unique and required email.</a:t>
            </a:r>
            <a:endParaRPr lang="en-US" sz="1300" dirty="0"/>
          </a:p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topic:</a:t>
            </a:r>
            <a:r>
              <a:rPr lang="en-US" sz="13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primary key, unique and required name, self-referencing foreign key for parent topics.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9600" y="1704578"/>
            <a:ext cx="5435600" cy="368300"/>
          </a:xfrm>
          <a:custGeom>
            <a:avLst/>
            <a:gdLst/>
            <a:ahLst/>
            <a:cxnLst/>
            <a:rect l="l" t="t" r="r" b="b"/>
            <a:pathLst>
              <a:path w="5435600" h="368300">
                <a:moveTo>
                  <a:pt x="76200" y="0"/>
                </a:moveTo>
                <a:lnTo>
                  <a:pt x="5359400" y="0"/>
                </a:lnTo>
                <a:arcTo wR="76200" hR="76200" stAng="16200000" swAng="5400000"/>
                <a:lnTo>
                  <a:pt x="5435600" y="368300"/>
                </a:lnTo>
                <a:lnTo>
                  <a:pt x="0" y="368300"/>
                </a:lnTo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14284B"/>
          </a:solidFill>
          <a:ln/>
        </p:spPr>
        <p:txBody>
          <a:bodyPr wrap="square" lIns="139700" tIns="64770" rIns="139700" bIns="64770" rtlCol="0" anchor="ctr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users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9600" y="2072878"/>
            <a:ext cx="5435600" cy="1841500"/>
          </a:xfrm>
          <a:custGeom>
            <a:avLst/>
            <a:gdLst/>
            <a:ahLst/>
            <a:cxnLst/>
            <a:rect l="l" t="t" r="r" b="b"/>
            <a:pathLst>
              <a:path w="5435600" h="1841500">
                <a:moveTo>
                  <a:pt x="0" y="0"/>
                </a:moveTo>
                <a:lnTo>
                  <a:pt x="5435600" y="0"/>
                </a:lnTo>
                <a:lnTo>
                  <a:pt x="5435600" y="1765300"/>
                </a:lnTo>
                <a:arcTo wR="76200" hR="76200" stAng="0" swAng="5400000"/>
                <a:lnTo>
                  <a:pt x="76200" y="1841500"/>
                </a:lnTo>
                <a:arcTo wR="76200" hR="76200" stAng="5400000" swAng="5400000"/>
                <a:lnTo>
                  <a:pt x="0" y="0"/>
                </a:lnTo>
                <a:close/>
              </a:path>
            </a:pathLst>
          </a:custGeom>
          <a:solidFill>
            <a:srgbClr val="0F1B33"/>
          </a:solidFill>
          <a:ln/>
        </p:spPr>
        <p:txBody>
          <a:bodyPr wrap="square" lIns="139700" tIns="127000" rIns="0" bIns="104140" rtlCol="0" anchor="t">
            <a:normAutofit fontScale="92500"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CREATE TABLE users (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user_id SERIAL PRIMARY KEY,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full_name VARCHAR(100),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email VARCHAR(150) UNIQUE NOT NULL,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password_hash VARCHAR(255),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skill_level VARCHAR(15),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created_at TIMESTAMP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);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46800" y="1704578"/>
            <a:ext cx="5435600" cy="368300"/>
          </a:xfrm>
          <a:custGeom>
            <a:avLst/>
            <a:gdLst/>
            <a:ahLst/>
            <a:cxnLst/>
            <a:rect l="l" t="t" r="r" b="b"/>
            <a:pathLst>
              <a:path w="5435600" h="368300">
                <a:moveTo>
                  <a:pt x="76200" y="0"/>
                </a:moveTo>
                <a:lnTo>
                  <a:pt x="5359400" y="0"/>
                </a:lnTo>
                <a:arcTo wR="76200" hR="76200" stAng="16200000" swAng="5400000"/>
                <a:lnTo>
                  <a:pt x="5435600" y="368300"/>
                </a:lnTo>
                <a:lnTo>
                  <a:pt x="0" y="368300"/>
                </a:lnTo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14284B"/>
          </a:solidFill>
          <a:ln/>
        </p:spPr>
        <p:txBody>
          <a:bodyPr wrap="square" lIns="139700" tIns="64770" rIns="139700" bIns="64770" rtlCol="0" anchor="ctr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topic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146800" y="2072878"/>
            <a:ext cx="5435600" cy="1841500"/>
          </a:xfrm>
          <a:custGeom>
            <a:avLst/>
            <a:gdLst/>
            <a:ahLst/>
            <a:cxnLst/>
            <a:rect l="l" t="t" r="r" b="b"/>
            <a:pathLst>
              <a:path w="5435600" h="1841500">
                <a:moveTo>
                  <a:pt x="0" y="0"/>
                </a:moveTo>
                <a:lnTo>
                  <a:pt x="5435600" y="0"/>
                </a:lnTo>
                <a:lnTo>
                  <a:pt x="5435600" y="1765300"/>
                </a:lnTo>
                <a:arcTo wR="76200" hR="76200" stAng="0" swAng="5400000"/>
                <a:lnTo>
                  <a:pt x="76200" y="1841500"/>
                </a:lnTo>
                <a:arcTo wR="76200" hR="76200" stAng="5400000" swAng="5400000"/>
                <a:lnTo>
                  <a:pt x="0" y="0"/>
                </a:lnTo>
                <a:close/>
              </a:path>
            </a:pathLst>
          </a:custGeom>
          <a:solidFill>
            <a:srgbClr val="0F1B33"/>
          </a:solidFill>
          <a:ln/>
        </p:spPr>
        <p:txBody>
          <a:bodyPr wrap="square" lIns="139700" tIns="127000" rIns="0" bIns="104140" rtlCol="0" anchor="t">
            <a:normAutofit fontScale="92500"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CREATE TABLE topic (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topic_id SERIAL PRIMARY KEY,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name VARCHAR(80) UNIQUE NOT NULL,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description TEXT,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parent_topic_id INT,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FOREIGN KEY (parent_topic_id)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REFERENCES topic(topic_id)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);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365239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Learning Platform · Phase 2 ·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600" y="406400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 · Database implementation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609600" y="749300"/>
            <a:ext cx="11301984" cy="40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i="0" dirty="0">
                <a:solidFill>
                  <a:srgbClr val="14284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DDL Scripts for Learning Items and Subclasses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642100" y="1250950"/>
            <a:ext cx="4946650" cy="365760"/>
          </a:xfrm>
          <a:custGeom>
            <a:avLst/>
            <a:gdLst/>
            <a:ahLst/>
            <a:cxnLst/>
            <a:rect l="l" t="t" r="r" b="b"/>
            <a:pathLst>
              <a:path w="4946650" h="365760">
                <a:moveTo>
                  <a:pt x="76200" y="0"/>
                </a:moveTo>
                <a:lnTo>
                  <a:pt x="4870450" y="0"/>
                </a:lnTo>
                <a:arcTo wR="76200" hR="76200" stAng="16200000" swAng="5400000"/>
                <a:lnTo>
                  <a:pt x="4946650" y="365760"/>
                </a:lnTo>
                <a:lnTo>
                  <a:pt x="0" y="365760"/>
                </a:lnTo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14284B"/>
          </a:solidFill>
          <a:ln/>
        </p:spPr>
        <p:txBody>
          <a:bodyPr wrap="square" lIns="139700" tIns="63500" rIns="139700" bIns="63500" rtlCol="0" anchor="ctr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quiz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642100" y="1616711"/>
            <a:ext cx="4946650" cy="1442720"/>
          </a:xfrm>
          <a:custGeom>
            <a:avLst/>
            <a:gdLst/>
            <a:ahLst/>
            <a:cxnLst/>
            <a:rect l="l" t="t" r="r" b="b"/>
            <a:pathLst>
              <a:path w="4946650" h="1442720">
                <a:moveTo>
                  <a:pt x="0" y="0"/>
                </a:moveTo>
                <a:lnTo>
                  <a:pt x="4946650" y="0"/>
                </a:lnTo>
                <a:lnTo>
                  <a:pt x="4946650" y="1366520"/>
                </a:lnTo>
                <a:arcTo wR="76200" hR="76200" stAng="0" swAng="5400000"/>
                <a:lnTo>
                  <a:pt x="76200" y="1442720"/>
                </a:lnTo>
                <a:arcTo wR="76200" hR="76200" stAng="5400000" swAng="5400000"/>
                <a:lnTo>
                  <a:pt x="0" y="0"/>
                </a:lnTo>
                <a:close/>
              </a:path>
            </a:pathLst>
          </a:custGeom>
          <a:solidFill>
            <a:srgbClr val="0F1B33"/>
          </a:solidFill>
          <a:ln/>
        </p:spPr>
        <p:txBody>
          <a:bodyPr wrap="square" lIns="139700" tIns="127000" rIns="0" bIns="10160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CREATE TABLE quiz (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item_id INT PRIMARY KEY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REFERENCES learning_item(item_id),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time_limit_min SMALLINT,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pass_mark SMALLINT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);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42100" y="3161032"/>
            <a:ext cx="4946650" cy="365760"/>
          </a:xfrm>
          <a:custGeom>
            <a:avLst/>
            <a:gdLst/>
            <a:ahLst/>
            <a:cxnLst/>
            <a:rect l="l" t="t" r="r" b="b"/>
            <a:pathLst>
              <a:path w="4946650" h="365760">
                <a:moveTo>
                  <a:pt x="76200" y="0"/>
                </a:moveTo>
                <a:lnTo>
                  <a:pt x="4870450" y="0"/>
                </a:lnTo>
                <a:arcTo wR="76200" hR="76200" stAng="16200000" swAng="5400000"/>
                <a:lnTo>
                  <a:pt x="4946650" y="365760"/>
                </a:lnTo>
                <a:lnTo>
                  <a:pt x="0" y="365760"/>
                </a:lnTo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14284B"/>
          </a:solidFill>
          <a:ln/>
        </p:spPr>
        <p:txBody>
          <a:bodyPr wrap="square" lIns="139700" tIns="63500" rIns="139700" bIns="63500" rtlCol="0" anchor="ctr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project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42100" y="3526789"/>
            <a:ext cx="4946650" cy="1442720"/>
          </a:xfrm>
          <a:custGeom>
            <a:avLst/>
            <a:gdLst/>
            <a:ahLst/>
            <a:cxnLst/>
            <a:rect l="l" t="t" r="r" b="b"/>
            <a:pathLst>
              <a:path w="4946650" h="1442720">
                <a:moveTo>
                  <a:pt x="0" y="0"/>
                </a:moveTo>
                <a:lnTo>
                  <a:pt x="4946650" y="0"/>
                </a:lnTo>
                <a:lnTo>
                  <a:pt x="4946650" y="1366520"/>
                </a:lnTo>
                <a:arcTo wR="76200" hR="76200" stAng="0" swAng="5400000"/>
                <a:lnTo>
                  <a:pt x="76200" y="1442720"/>
                </a:lnTo>
                <a:arcTo wR="76200" hR="76200" stAng="5400000" swAng="5400000"/>
                <a:lnTo>
                  <a:pt x="0" y="0"/>
                </a:lnTo>
                <a:close/>
              </a:path>
            </a:pathLst>
          </a:custGeom>
          <a:solidFill>
            <a:srgbClr val="0F1B33"/>
          </a:solidFill>
          <a:ln/>
        </p:spPr>
        <p:txBody>
          <a:bodyPr wrap="square" lIns="139700" tIns="127000" rIns="0" bIns="10160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CREATE TABLE project (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item_id INT PRIMARY KEY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REFERENCES learning_item(item_id),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est_hours NUMERIC(4,1),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repo_url VARCHAR(255)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);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8650" y="5099050"/>
            <a:ext cx="0" cy="431800"/>
          </a:xfrm>
          <a:prstGeom prst="line">
            <a:avLst/>
          </a:prstGeom>
          <a:noFill/>
          <a:ln w="38100">
            <a:solidFill>
              <a:srgbClr val="C9962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772160" y="5099050"/>
            <a:ext cx="11134547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implementation:</a:t>
            </a:r>
            <a:r>
              <a:rPr lang="en-US" sz="13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learning_item stores the common attributes; quiz and project hold subtype-specific ones. Each subtype's primary key is also a foreign key to learning_item.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9600" y="1931352"/>
            <a:ext cx="5930900" cy="368300"/>
          </a:xfrm>
          <a:custGeom>
            <a:avLst/>
            <a:gdLst/>
            <a:ahLst/>
            <a:cxnLst/>
            <a:rect l="l" t="t" r="r" b="b"/>
            <a:pathLst>
              <a:path w="5930900" h="368300">
                <a:moveTo>
                  <a:pt x="76200" y="0"/>
                </a:moveTo>
                <a:lnTo>
                  <a:pt x="5854700" y="0"/>
                </a:lnTo>
                <a:arcTo wR="76200" hR="76200" stAng="16200000" swAng="5400000"/>
                <a:lnTo>
                  <a:pt x="5930900" y="368300"/>
                </a:lnTo>
                <a:lnTo>
                  <a:pt x="0" y="368300"/>
                </a:lnTo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14284B"/>
          </a:solidFill>
          <a:ln/>
        </p:spPr>
        <p:txBody>
          <a:bodyPr wrap="square" lIns="139700" tIns="64770" rIns="139700" bIns="64770" rtlCol="0" anchor="ctr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learning_item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9600" y="2299652"/>
            <a:ext cx="5930900" cy="2235200"/>
          </a:xfrm>
          <a:custGeom>
            <a:avLst/>
            <a:gdLst/>
            <a:ahLst/>
            <a:cxnLst/>
            <a:rect l="l" t="t" r="r" b="b"/>
            <a:pathLst>
              <a:path w="5930900" h="2235200">
                <a:moveTo>
                  <a:pt x="0" y="0"/>
                </a:moveTo>
                <a:lnTo>
                  <a:pt x="5930900" y="0"/>
                </a:lnTo>
                <a:lnTo>
                  <a:pt x="5930900" y="2159000"/>
                </a:lnTo>
                <a:arcTo wR="76200" hR="76200" stAng="0" swAng="5400000"/>
                <a:lnTo>
                  <a:pt x="76200" y="2235200"/>
                </a:lnTo>
                <a:arcTo wR="76200" hR="76200" stAng="5400000" swAng="5400000"/>
                <a:lnTo>
                  <a:pt x="0" y="0"/>
                </a:lnTo>
                <a:close/>
              </a:path>
            </a:pathLst>
          </a:custGeom>
          <a:solidFill>
            <a:srgbClr val="0F1B33"/>
          </a:solidFill>
          <a:ln/>
        </p:spPr>
        <p:txBody>
          <a:bodyPr wrap="square" lIns="139700" tIns="127000" rIns="0" bIns="101600" rtlCol="0" anchor="t">
            <a:no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CREATE TABLE learning_item (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item_id SERIAL PRIMARY KEY,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topic_id INT REFERENCES topic(topic_id),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title VARCHAR(150) NOT NULL,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difficulty SMALLINT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CHECK (difficulty BETWEEN 1 AND 5),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item_type VARCHAR(7)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CHECK (item_type IN ('QUIZ', 'PROJECT')),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created_at TIMESTAMP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);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 · Database implementation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746761"/>
            <a:ext cx="11301984" cy="40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i="0" dirty="0">
                <a:solidFill>
                  <a:srgbClr val="14284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DDL Scripts for Multivalued Attributes and Weak Entities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50950"/>
            <a:ext cx="5176758" cy="365760"/>
          </a:xfrm>
          <a:custGeom>
            <a:avLst/>
            <a:gdLst/>
            <a:ahLst/>
            <a:cxnLst/>
            <a:rect l="l" t="t" r="r" b="b"/>
            <a:pathLst>
              <a:path w="5176758" h="365760">
                <a:moveTo>
                  <a:pt x="76200" y="0"/>
                </a:moveTo>
                <a:lnTo>
                  <a:pt x="5100558" y="0"/>
                </a:lnTo>
                <a:arcTo wR="76200" hR="76200" stAng="16200000" swAng="5400000"/>
                <a:lnTo>
                  <a:pt x="5176758" y="365760"/>
                </a:lnTo>
                <a:lnTo>
                  <a:pt x="0" y="365760"/>
                </a:lnTo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14284B"/>
          </a:solidFill>
          <a:ln/>
        </p:spPr>
        <p:txBody>
          <a:bodyPr wrap="square" lIns="139700" tIns="63500" rIns="139700" bIns="63500" rtlCol="0" anchor="ctr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project_tech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600" y="1616711"/>
            <a:ext cx="5176758" cy="1640840"/>
          </a:xfrm>
          <a:custGeom>
            <a:avLst/>
            <a:gdLst/>
            <a:ahLst/>
            <a:cxnLst/>
            <a:rect l="l" t="t" r="r" b="b"/>
            <a:pathLst>
              <a:path w="5176758" h="1640840">
                <a:moveTo>
                  <a:pt x="0" y="0"/>
                </a:moveTo>
                <a:lnTo>
                  <a:pt x="5176758" y="0"/>
                </a:lnTo>
                <a:lnTo>
                  <a:pt x="5176758" y="1564640"/>
                </a:lnTo>
                <a:arcTo wR="76200" hR="76200" stAng="0" swAng="5400000"/>
                <a:lnTo>
                  <a:pt x="76200" y="1640840"/>
                </a:lnTo>
                <a:arcTo wR="76200" hR="76200" stAng="5400000" swAng="5400000"/>
                <a:lnTo>
                  <a:pt x="0" y="0"/>
                </a:lnTo>
                <a:close/>
              </a:path>
            </a:pathLst>
          </a:custGeom>
          <a:solidFill>
            <a:srgbClr val="0F1B33"/>
          </a:solidFill>
          <a:ln/>
        </p:spPr>
        <p:txBody>
          <a:bodyPr wrap="square" lIns="139700" tIns="127000" rIns="0" bIns="10160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CREATE TABLE project_tech (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item_id INT NOT NULL,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tech VARCHAR(50) NOT NULL,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PRIMARY KEY (item_id, tech),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FOREIGN KEY (item_id)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REFERENCES project(item_id)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);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887958" y="1250950"/>
            <a:ext cx="5694442" cy="365760"/>
          </a:xfrm>
          <a:custGeom>
            <a:avLst/>
            <a:gdLst/>
            <a:ahLst/>
            <a:cxnLst/>
            <a:rect l="l" t="t" r="r" b="b"/>
            <a:pathLst>
              <a:path w="5694442" h="365760">
                <a:moveTo>
                  <a:pt x="76200" y="0"/>
                </a:moveTo>
                <a:lnTo>
                  <a:pt x="5618242" y="0"/>
                </a:lnTo>
                <a:arcTo wR="76200" hR="76200" stAng="16200000" swAng="5400000"/>
                <a:lnTo>
                  <a:pt x="5694442" y="365760"/>
                </a:lnTo>
                <a:lnTo>
                  <a:pt x="0" y="365760"/>
                </a:lnTo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14284B"/>
          </a:solidFill>
          <a:ln/>
        </p:spPr>
        <p:txBody>
          <a:bodyPr wrap="square" lIns="139700" tIns="63500" rIns="139700" bIns="63500" rtlCol="0" anchor="ctr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question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897686" y="1616711"/>
            <a:ext cx="5694442" cy="2235200"/>
          </a:xfrm>
          <a:custGeom>
            <a:avLst/>
            <a:gdLst/>
            <a:ahLst/>
            <a:cxnLst/>
            <a:rect l="l" t="t" r="r" b="b"/>
            <a:pathLst>
              <a:path w="5694442" h="2235200">
                <a:moveTo>
                  <a:pt x="0" y="0"/>
                </a:moveTo>
                <a:lnTo>
                  <a:pt x="5694442" y="0"/>
                </a:lnTo>
                <a:lnTo>
                  <a:pt x="5694442" y="2159000"/>
                </a:lnTo>
                <a:arcTo wR="76200" hR="76200" stAng="0" swAng="5400000"/>
                <a:lnTo>
                  <a:pt x="76200" y="2235200"/>
                </a:lnTo>
                <a:arcTo wR="76200" hR="76200" stAng="5400000" swAng="5400000"/>
                <a:lnTo>
                  <a:pt x="0" y="0"/>
                </a:lnTo>
                <a:close/>
              </a:path>
            </a:pathLst>
          </a:custGeom>
          <a:solidFill>
            <a:srgbClr val="0F1B33"/>
          </a:solidFill>
          <a:ln/>
        </p:spPr>
        <p:txBody>
          <a:bodyPr wrap="square" lIns="139700" tIns="127000" rIns="0" bIns="101600" rtlCol="0" anchor="t">
            <a:no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CREATE TABLE question (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quiz_id INT NOT NULL,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question_no SMALLINT NOT NULL,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question_text TEXT,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correct_answer TEXT,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marks SMALLINT,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PRIMARY KEY (quiz_id, question_no),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FOREIGN KEY (quiz_id)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REFERENCES quiz(item_id)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);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06882" y="3978911"/>
            <a:ext cx="11197082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6718" indent="-156718" algn="l">
              <a:lnSpc>
                <a:spcPts val="1890"/>
              </a:lnSpc>
              <a:buSzPct val="100000"/>
              <a:buChar char="•"/>
            </a:pPr>
            <a:r>
              <a:rPr lang="en-US" sz="1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project_tech:</a:t>
            </a:r>
            <a:r>
              <a:rPr lang="en-US" sz="1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stores multiple technologies per project using a composite primary key.</a:t>
            </a:r>
            <a:endParaRPr lang="en-US" sz="1400" dirty="0"/>
          </a:p>
          <a:p>
            <a:pPr marL="156718" indent="-156718" algn="l">
              <a:lnSpc>
                <a:spcPts val="1890"/>
              </a:lnSpc>
              <a:buSzPct val="100000"/>
              <a:buChar char="•"/>
            </a:pPr>
            <a:r>
              <a:rPr lang="en-US" sz="1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</a:t>
            </a:r>
            <a:r>
              <a:rPr lang="en-US" sz="1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implements the Phase 1 weak entity; each question is identified by its quiz and question number.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9600" y="6365239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Learning Platform · Phase 2 · 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 · Database implementation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746761"/>
            <a:ext cx="11301984" cy="40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i="0" dirty="0">
                <a:solidFill>
                  <a:srgbClr val="14284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DDL Scripts for Many-to-Many Relationships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50950"/>
            <a:ext cx="3589814" cy="365760"/>
          </a:xfrm>
          <a:custGeom>
            <a:avLst/>
            <a:gdLst/>
            <a:ahLst/>
            <a:cxnLst/>
            <a:rect l="l" t="t" r="r" b="b"/>
            <a:pathLst>
              <a:path w="3589814" h="365760">
                <a:moveTo>
                  <a:pt x="76200" y="0"/>
                </a:moveTo>
                <a:lnTo>
                  <a:pt x="3513614" y="0"/>
                </a:lnTo>
                <a:arcTo wR="76200" hR="76200" stAng="16200000" swAng="5400000"/>
                <a:lnTo>
                  <a:pt x="3589814" y="365760"/>
                </a:lnTo>
                <a:lnTo>
                  <a:pt x="0" y="365760"/>
                </a:lnTo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14284B"/>
          </a:solidFill>
          <a:ln/>
        </p:spPr>
        <p:txBody>
          <a:bodyPr wrap="square" lIns="139700" tIns="63500" rIns="139700" bIns="63500" rtlCol="0" anchor="ctr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learning_record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600" y="1616711"/>
            <a:ext cx="3589814" cy="3225800"/>
          </a:xfrm>
          <a:custGeom>
            <a:avLst/>
            <a:gdLst/>
            <a:ahLst/>
            <a:cxnLst/>
            <a:rect l="l" t="t" r="r" b="b"/>
            <a:pathLst>
              <a:path w="3589814" h="3225800">
                <a:moveTo>
                  <a:pt x="0" y="0"/>
                </a:moveTo>
                <a:lnTo>
                  <a:pt x="3589814" y="0"/>
                </a:lnTo>
                <a:lnTo>
                  <a:pt x="3589814" y="3149600"/>
                </a:lnTo>
                <a:arcTo wR="76200" hR="76200" stAng="0" swAng="5400000"/>
                <a:lnTo>
                  <a:pt x="76200" y="3225800"/>
                </a:lnTo>
                <a:arcTo wR="76200" hR="76200" stAng="5400000" swAng="5400000"/>
                <a:lnTo>
                  <a:pt x="0" y="0"/>
                </a:lnTo>
                <a:close/>
              </a:path>
            </a:pathLst>
          </a:custGeom>
          <a:solidFill>
            <a:srgbClr val="0F1B33"/>
          </a:solidFill>
          <a:ln/>
        </p:spPr>
        <p:txBody>
          <a:bodyPr wrap="square" lIns="139700" tIns="127000" rIns="40388" bIns="101600" rtlCol="0" anchor="t">
            <a:no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CREATE TABLE learning_record (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user_id INT NOT NULL,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item_id INT NOT NULL,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attempt_no SMALLINT NOT NULL,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status VARCHAR(12),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score NUMERIC(5,2),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started_at TIMESTAMP,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completed_at TIMESTAMP,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PRIMARY KEY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(user_id, item_id, attempt_no),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FOREIGN KEY (user_id)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REFERENCES users(user_id),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FOREIGN KEY (item_id)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REFERENCES learning_item(item_id)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);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301014" y="1250950"/>
            <a:ext cx="3589893" cy="365760"/>
          </a:xfrm>
          <a:custGeom>
            <a:avLst/>
            <a:gdLst/>
            <a:ahLst/>
            <a:cxnLst/>
            <a:rect l="l" t="t" r="r" b="b"/>
            <a:pathLst>
              <a:path w="3589893" h="365760">
                <a:moveTo>
                  <a:pt x="76200" y="0"/>
                </a:moveTo>
                <a:lnTo>
                  <a:pt x="3513693" y="0"/>
                </a:lnTo>
                <a:arcTo wR="76200" hR="76200" stAng="16200000" swAng="5400000"/>
                <a:lnTo>
                  <a:pt x="3589893" y="365760"/>
                </a:lnTo>
                <a:lnTo>
                  <a:pt x="0" y="365760"/>
                </a:lnTo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14284B"/>
          </a:solidFill>
          <a:ln/>
        </p:spPr>
        <p:txBody>
          <a:bodyPr wrap="square" lIns="139700" tIns="63500" rIns="139700" bIns="63500" rtlCol="0" anchor="ctr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topic_proficiency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01014" y="1616711"/>
            <a:ext cx="3589893" cy="2631440"/>
          </a:xfrm>
          <a:custGeom>
            <a:avLst/>
            <a:gdLst/>
            <a:ahLst/>
            <a:cxnLst/>
            <a:rect l="l" t="t" r="r" b="b"/>
            <a:pathLst>
              <a:path w="3589893" h="2631440">
                <a:moveTo>
                  <a:pt x="0" y="0"/>
                </a:moveTo>
                <a:lnTo>
                  <a:pt x="3589893" y="0"/>
                </a:lnTo>
                <a:lnTo>
                  <a:pt x="3589893" y="2555240"/>
                </a:lnTo>
                <a:arcTo wR="76200" hR="76200" stAng="0" swAng="5400000"/>
                <a:lnTo>
                  <a:pt x="76200" y="2631440"/>
                </a:lnTo>
                <a:arcTo wR="76200" hR="76200" stAng="5400000" swAng="5400000"/>
                <a:lnTo>
                  <a:pt x="0" y="0"/>
                </a:lnTo>
                <a:close/>
              </a:path>
            </a:pathLst>
          </a:custGeom>
          <a:solidFill>
            <a:srgbClr val="0F1B33"/>
          </a:solidFill>
          <a:ln/>
        </p:spPr>
        <p:txBody>
          <a:bodyPr wrap="square" lIns="139700" tIns="127000" rIns="40385" bIns="101600" rtlCol="0" anchor="t">
            <a:no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CREATE TABLE topic_proficiency (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user_id INT NOT NULL,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topic_id INT NOT NULL,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proficiency_score NUMERIC(5,2),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attempts_count INT,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last_updated TIMESTAMP,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PRIMARY KEY (user_id, topic_id),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FOREIGN KEY (user_id)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REFERENCES users(user_id),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FOREIGN KEY (topic_id)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REFERENCES topic(topic_id)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);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992507" y="1250950"/>
            <a:ext cx="3589893" cy="365760"/>
          </a:xfrm>
          <a:custGeom>
            <a:avLst/>
            <a:gdLst/>
            <a:ahLst/>
            <a:cxnLst/>
            <a:rect l="l" t="t" r="r" b="b"/>
            <a:pathLst>
              <a:path w="3589893" h="365760">
                <a:moveTo>
                  <a:pt x="76200" y="0"/>
                </a:moveTo>
                <a:lnTo>
                  <a:pt x="3513693" y="0"/>
                </a:lnTo>
                <a:arcTo wR="76200" hR="76200" stAng="16200000" swAng="5400000"/>
                <a:lnTo>
                  <a:pt x="3589893" y="365760"/>
                </a:lnTo>
                <a:lnTo>
                  <a:pt x="0" y="365760"/>
                </a:lnTo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14284B"/>
          </a:solidFill>
          <a:ln/>
        </p:spPr>
        <p:txBody>
          <a:bodyPr wrap="square" lIns="139700" tIns="63500" rIns="139700" bIns="63500" rtlCol="0" anchor="ctr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recommendation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992507" y="1616711"/>
            <a:ext cx="3589893" cy="2829560"/>
          </a:xfrm>
          <a:custGeom>
            <a:avLst/>
            <a:gdLst/>
            <a:ahLst/>
            <a:cxnLst/>
            <a:rect l="l" t="t" r="r" b="b"/>
            <a:pathLst>
              <a:path w="3589893" h="2829560">
                <a:moveTo>
                  <a:pt x="0" y="0"/>
                </a:moveTo>
                <a:lnTo>
                  <a:pt x="3589893" y="0"/>
                </a:lnTo>
                <a:lnTo>
                  <a:pt x="3589893" y="2753360"/>
                </a:lnTo>
                <a:arcTo wR="76200" hR="76200" stAng="0" swAng="5400000"/>
                <a:lnTo>
                  <a:pt x="76200" y="2829560"/>
                </a:lnTo>
                <a:arcTo wR="76200" hR="76200" stAng="5400000" swAng="5400000"/>
                <a:lnTo>
                  <a:pt x="0" y="0"/>
                </a:lnTo>
                <a:close/>
              </a:path>
            </a:pathLst>
          </a:custGeom>
          <a:solidFill>
            <a:srgbClr val="0F1B33"/>
          </a:solidFill>
          <a:ln/>
        </p:spPr>
        <p:txBody>
          <a:bodyPr wrap="square" lIns="139700" tIns="127000" rIns="40385" bIns="101600" rtlCol="0" anchor="t">
            <a:no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CREATE TABLE recommendation (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user_id INT NOT NULL,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item_id INT NOT NULL,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rank_score NUMERIC(5,4),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reason VARCHAR(200),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status VARCHAR(10),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created_at TIMESTAMP,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PRIMARY KEY (user_id, item_id),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FOREIGN KEY (user_id)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REFERENCES users(user_id),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FOREIGN KEY (item_id)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REFERENCES learning_item(item_id)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);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8650" y="4969511"/>
            <a:ext cx="0" cy="198120"/>
          </a:xfrm>
          <a:prstGeom prst="line">
            <a:avLst/>
          </a:prstGeom>
          <a:noFill/>
          <a:ln w="38100">
            <a:solidFill>
              <a:srgbClr val="C9962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" name="Text 9"/>
          <p:cNvSpPr/>
          <p:nvPr/>
        </p:nvSpPr>
        <p:spPr>
          <a:xfrm>
            <a:off x="772160" y="4969511"/>
            <a:ext cx="11134547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implementation:</a:t>
            </a:r>
            <a:r>
              <a:rPr lang="en-US" sz="1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composite primary keys and foreign keys connect student activity, topic proficiency and recommendations to their records.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9600" y="6365239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Learning Platform · Phase 2 · 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 · Database implementation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746761"/>
            <a:ext cx="11301984" cy="40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i="0" dirty="0">
                <a:solidFill>
                  <a:srgbClr val="14284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Schema Verification and Constraint Summary</a:t>
            </a:r>
            <a:endParaRPr lang="en-US" sz="2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760" y="1261110"/>
          <a:ext cx="5631022" cy="3218180"/>
        </p:xfrm>
        <a:graphic>
          <a:graphicData uri="http://schemas.openxmlformats.org/drawingml/2006/table">
            <a:tbl>
              <a:tblPr/>
              <a:tblGrid>
                <a:gridCol w="28155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55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78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Constraint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8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key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Uniquely identifies records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8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Foreign key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Maintains relationships between tables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118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Composite key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Identifies attempts, questions, technologies and relationship records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118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Unique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Prevents duplicate emails and topic names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118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null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Requires fields such as email, name and title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118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Restricts difficulty to 1–5 and item type to QUIZ or PROJECT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53981" y="1250950"/>
            <a:ext cx="5128419" cy="365760"/>
          </a:xfrm>
          <a:custGeom>
            <a:avLst/>
            <a:gdLst/>
            <a:ahLst/>
            <a:cxnLst/>
            <a:rect l="l" t="t" r="r" b="b"/>
            <a:pathLst>
              <a:path w="5128419" h="365760">
                <a:moveTo>
                  <a:pt x="76200" y="0"/>
                </a:moveTo>
                <a:lnTo>
                  <a:pt x="5052219" y="0"/>
                </a:lnTo>
                <a:arcTo wR="76200" hR="76200" stAng="16200000" swAng="5400000"/>
                <a:lnTo>
                  <a:pt x="5128419" y="365760"/>
                </a:lnTo>
                <a:lnTo>
                  <a:pt x="0" y="365760"/>
                </a:lnTo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14284B"/>
          </a:solidFill>
          <a:ln/>
        </p:spPr>
        <p:txBody>
          <a:bodyPr wrap="square" lIns="139700" tIns="63500" rIns="139700" bIns="63500" rtlCol="0" anchor="ctr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Verification query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53981" y="1616711"/>
            <a:ext cx="5128419" cy="1244600"/>
          </a:xfrm>
          <a:custGeom>
            <a:avLst/>
            <a:gdLst/>
            <a:ahLst/>
            <a:cxnLst/>
            <a:rect l="l" t="t" r="r" b="b"/>
            <a:pathLst>
              <a:path w="5128419" h="1244600">
                <a:moveTo>
                  <a:pt x="0" y="0"/>
                </a:moveTo>
                <a:lnTo>
                  <a:pt x="5128419" y="0"/>
                </a:lnTo>
                <a:lnTo>
                  <a:pt x="5128419" y="1168400"/>
                </a:lnTo>
                <a:arcTo wR="76200" hR="76200" stAng="0" swAng="5400000"/>
                <a:lnTo>
                  <a:pt x="76200" y="1244600"/>
                </a:lnTo>
                <a:arcTo wR="76200" hR="76200" stAng="5400000" swAng="5400000"/>
                <a:lnTo>
                  <a:pt x="0" y="0"/>
                </a:lnTo>
                <a:close/>
              </a:path>
            </a:pathLst>
          </a:custGeom>
          <a:solidFill>
            <a:srgbClr val="0F1B33"/>
          </a:solidFill>
          <a:ln/>
        </p:spPr>
        <p:txBody>
          <a:bodyPr wrap="square" lIns="139700" tIns="127000" rIns="0" bIns="10160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SELECT table_name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FROM information_schema.tables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WHERE table_schema = 'public'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AND table_type = 'BASE TABLE'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ORDER BY table_name;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63506" y="3200400"/>
            <a:ext cx="5109369" cy="1097280"/>
          </a:xfrm>
          <a:prstGeom prst="roundRect">
            <a:avLst>
              <a:gd name="adj" fmla="val 13224"/>
            </a:avLst>
          </a:prstGeom>
          <a:solidFill>
            <a:srgbClr val="0F1B33"/>
          </a:solidFill>
          <a:ln w="19050">
            <a:noFill/>
            <a:prstDash val="dash"/>
          </a:ln>
        </p:spPr>
        <p:txBody>
          <a:bodyPr wrap="square" lIns="125887" tIns="73152" rIns="0" bIns="73152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Arial" pitchFamily="34" charset="-122"/>
                <a:cs typeface="Arial" pitchFamily="34" charset="-120"/>
              </a:rPr>
              <a:t>table_name  (10 rows)</a:t>
            </a:r>
            <a:endParaRPr lang="en-US" sz="12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Arial" pitchFamily="34" charset="-122"/>
                <a:cs typeface="Arial" pitchFamily="34" charset="-120"/>
              </a:rPr>
              <a:t>learning_item, learning_record, project,</a:t>
            </a:r>
            <a:endParaRPr lang="en-US" sz="12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Arial" pitchFamily="34" charset="-122"/>
                <a:cs typeface="Arial" pitchFamily="34" charset="-120"/>
              </a:rPr>
              <a:t>project_tech, question, quiz, recommendation,</a:t>
            </a:r>
            <a:endParaRPr lang="en-US" sz="12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Arial" pitchFamily="34" charset="-122"/>
                <a:cs typeface="Arial" pitchFamily="34" charset="-120"/>
              </a:rPr>
              <a:t>topic, topic_proficiency, users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8650" y="4606292"/>
            <a:ext cx="0" cy="214630"/>
          </a:xfrm>
          <a:prstGeom prst="line">
            <a:avLst/>
          </a:prstGeom>
          <a:noFill/>
          <a:ln w="38100">
            <a:solidFill>
              <a:srgbClr val="C9962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 6"/>
          <p:cNvSpPr/>
          <p:nvPr/>
        </p:nvSpPr>
        <p:spPr>
          <a:xfrm>
            <a:off x="772160" y="4606292"/>
            <a:ext cx="11134547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Phase 1 relational schema has been translated into PostgreSQL DDL, preserving the defined tables, keys and constraints.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09600" y="6365242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Learning Platform · Phase 2 · 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6 · Data Population (DML)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746764"/>
            <a:ext cx="11301984" cy="40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i="0" dirty="0">
                <a:solidFill>
                  <a:srgbClr val="14284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Populating the Database with Sample Data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50950"/>
            <a:ext cx="11301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SQL DML commands to populate the Phase 1 relational schema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600" y="1751329"/>
            <a:ext cx="1828800" cy="792480"/>
          </a:xfrm>
          <a:prstGeom prst="roundRect">
            <a:avLst>
              <a:gd name="adj" fmla="val 9615"/>
            </a:avLst>
          </a:prstGeom>
          <a:solidFill>
            <a:srgbClr val="14284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673100" y="1916429"/>
            <a:ext cx="1701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73100" y="2129792"/>
            <a:ext cx="170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Tables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27300" y="1951992"/>
            <a:ext cx="33528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895600" y="1626871"/>
            <a:ext cx="1828800" cy="1041400"/>
          </a:xfrm>
          <a:prstGeom prst="roundRect">
            <a:avLst>
              <a:gd name="adj" fmla="val 7317"/>
            </a:avLst>
          </a:prstGeom>
          <a:solidFill>
            <a:srgbClr val="14284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2959100" y="1791971"/>
            <a:ext cx="1701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59100" y="2005329"/>
            <a:ext cx="170180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Parent Records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13300" y="1951992"/>
            <a:ext cx="33528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181600" y="1626871"/>
            <a:ext cx="1828800" cy="1041400"/>
          </a:xfrm>
          <a:prstGeom prst="roundRect">
            <a:avLst>
              <a:gd name="adj" fmla="val 7317"/>
            </a:avLst>
          </a:prstGeom>
          <a:solidFill>
            <a:srgbClr val="14284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4" name="Text 12"/>
          <p:cNvSpPr/>
          <p:nvPr/>
        </p:nvSpPr>
        <p:spPr>
          <a:xfrm>
            <a:off x="5245100" y="1791971"/>
            <a:ext cx="1701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45100" y="2005329"/>
            <a:ext cx="170180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Learning Content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99300" y="1951992"/>
            <a:ext cx="33528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467600" y="1626871"/>
            <a:ext cx="1828800" cy="1041400"/>
          </a:xfrm>
          <a:prstGeom prst="roundRect">
            <a:avLst>
              <a:gd name="adj" fmla="val 7317"/>
            </a:avLst>
          </a:prstGeom>
          <a:solidFill>
            <a:srgbClr val="14284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8" name="Text 16"/>
          <p:cNvSpPr/>
          <p:nvPr/>
        </p:nvSpPr>
        <p:spPr>
          <a:xfrm>
            <a:off x="7531100" y="1791971"/>
            <a:ext cx="1701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31100" y="2005329"/>
            <a:ext cx="170180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Activity Records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385300" y="1951992"/>
            <a:ext cx="33528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753600" y="1751329"/>
            <a:ext cx="1828800" cy="792480"/>
          </a:xfrm>
          <a:prstGeom prst="roundRect">
            <a:avLst>
              <a:gd name="adj" fmla="val 9615"/>
            </a:avLst>
          </a:prstGeom>
          <a:solidFill>
            <a:srgbClr val="14284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2" name="Text 20"/>
          <p:cNvSpPr/>
          <p:nvPr/>
        </p:nvSpPr>
        <p:spPr>
          <a:xfrm>
            <a:off x="9817100" y="1916429"/>
            <a:ext cx="1701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817100" y="2129792"/>
            <a:ext cx="170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Data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3420" y="2795271"/>
            <a:ext cx="11210544" cy="1311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0180" indent="-170180" algn="l">
              <a:lnSpc>
                <a:spcPts val="2025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statements populate all 10 tables with meaningful sample data.</a:t>
            </a:r>
            <a:endParaRPr lang="en-US" sz="1500" dirty="0"/>
          </a:p>
          <a:p>
            <a:pPr marL="170180" indent="-170180" algn="l">
              <a:lnSpc>
                <a:spcPts val="2025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 records are inserted before records that reference them.</a:t>
            </a:r>
            <a:endParaRPr lang="en-US" sz="1500" dirty="0"/>
          </a:p>
          <a:p>
            <a:pPr marL="170180" indent="-170180" algn="l">
              <a:lnSpc>
                <a:spcPts val="2025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data covers student profiles, topics, quizzes, projects and learning activity.</a:t>
            </a:r>
            <a:endParaRPr lang="en-US" sz="1500" dirty="0"/>
          </a:p>
          <a:p>
            <a:pPr marL="170180" indent="-170180" algn="l">
              <a:lnSpc>
                <a:spcPts val="2025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Primary-key and foreign-key constraints maintain data consistency.</a:t>
            </a:r>
            <a:endParaRPr lang="en-US" sz="1500" dirty="0"/>
          </a:p>
          <a:p>
            <a:pPr marL="170180" indent="-170180" algn="l">
              <a:lnSpc>
                <a:spcPts val="2025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queries verify successful population.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6365242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Learning Platform · Phase 2 · 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6 · Data Population (DML)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746764"/>
            <a:ext cx="11301984" cy="40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i="0" dirty="0">
                <a:solidFill>
                  <a:srgbClr val="14284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Populating Strong Entities — Users and Topics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50950"/>
            <a:ext cx="4831636" cy="365760"/>
          </a:xfrm>
          <a:custGeom>
            <a:avLst/>
            <a:gdLst/>
            <a:ahLst/>
            <a:cxnLst/>
            <a:rect l="l" t="t" r="r" b="b"/>
            <a:pathLst>
              <a:path w="4831636" h="365760">
                <a:moveTo>
                  <a:pt x="76200" y="0"/>
                </a:moveTo>
                <a:lnTo>
                  <a:pt x="4755436" y="0"/>
                </a:lnTo>
                <a:arcTo wR="76200" hR="76200" stAng="16200000" swAng="5400000"/>
                <a:lnTo>
                  <a:pt x="4831636" y="365760"/>
                </a:lnTo>
                <a:lnTo>
                  <a:pt x="0" y="365760"/>
                </a:lnTo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14284B"/>
          </a:solidFill>
          <a:ln/>
        </p:spPr>
        <p:txBody>
          <a:bodyPr wrap="square" lIns="139700" tIns="63500" rIns="139700" bIns="63500" rtlCol="0" anchor="ctr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users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600" y="1616714"/>
            <a:ext cx="4831636" cy="2829560"/>
          </a:xfrm>
          <a:custGeom>
            <a:avLst/>
            <a:gdLst/>
            <a:ahLst/>
            <a:cxnLst/>
            <a:rect l="l" t="t" r="r" b="b"/>
            <a:pathLst>
              <a:path w="4831636" h="2829560">
                <a:moveTo>
                  <a:pt x="0" y="0"/>
                </a:moveTo>
                <a:lnTo>
                  <a:pt x="4831636" y="0"/>
                </a:lnTo>
                <a:lnTo>
                  <a:pt x="4831636" y="2753360"/>
                </a:lnTo>
                <a:arcTo wR="76200" hR="76200" stAng="0" swAng="5400000"/>
                <a:lnTo>
                  <a:pt x="76200" y="2829560"/>
                </a:lnTo>
                <a:arcTo wR="76200" hR="76200" stAng="5400000" swAng="5400000"/>
                <a:lnTo>
                  <a:pt x="0" y="0"/>
                </a:lnTo>
                <a:close/>
              </a:path>
            </a:pathLst>
          </a:custGeom>
          <a:solidFill>
            <a:srgbClr val="0F1B33"/>
          </a:solidFill>
          <a:ln/>
        </p:spPr>
        <p:txBody>
          <a:bodyPr wrap="square" lIns="139700" tIns="127000" rIns="3133" bIns="101600" rtlCol="0" anchor="t">
            <a:no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INSERT INTO users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(full_name, email, password_hash,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skill_level, created_at)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VALUES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('Riya Sharma', 'riya@example.edu',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'demo_hash_001', 'Beginner',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'2026-10-01 09:00:00'),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('Arjun Mehta', 'arjun@example.edu',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'demo_hash_002', 'Intermediate',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'2026-10-01 09:15:00'),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('Maya Iyer', 'maya@example.edu',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'demo_hash_003', 'Advanced',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'2026-10-01 09:30:00');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542836" y="1250950"/>
            <a:ext cx="6039564" cy="365760"/>
          </a:xfrm>
          <a:custGeom>
            <a:avLst/>
            <a:gdLst/>
            <a:ahLst/>
            <a:cxnLst/>
            <a:rect l="l" t="t" r="r" b="b"/>
            <a:pathLst>
              <a:path w="6039564" h="365760">
                <a:moveTo>
                  <a:pt x="76200" y="0"/>
                </a:moveTo>
                <a:lnTo>
                  <a:pt x="5963364" y="0"/>
                </a:lnTo>
                <a:arcTo wR="76200" hR="76200" stAng="16200000" swAng="5400000"/>
                <a:lnTo>
                  <a:pt x="6039564" y="365760"/>
                </a:lnTo>
                <a:lnTo>
                  <a:pt x="0" y="365760"/>
                </a:lnTo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14284B"/>
          </a:solidFill>
          <a:ln/>
        </p:spPr>
        <p:txBody>
          <a:bodyPr wrap="square" lIns="139700" tIns="63500" rIns="139700" bIns="63500" rtlCol="0" anchor="ctr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topic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542836" y="1616714"/>
            <a:ext cx="6039564" cy="3225800"/>
          </a:xfrm>
          <a:custGeom>
            <a:avLst/>
            <a:gdLst/>
            <a:ahLst/>
            <a:cxnLst/>
            <a:rect l="l" t="t" r="r" b="b"/>
            <a:pathLst>
              <a:path w="6039564" h="3225800">
                <a:moveTo>
                  <a:pt x="0" y="0"/>
                </a:moveTo>
                <a:lnTo>
                  <a:pt x="6039564" y="0"/>
                </a:lnTo>
                <a:lnTo>
                  <a:pt x="6039564" y="3149600"/>
                </a:lnTo>
                <a:arcTo wR="76200" hR="76200" stAng="0" swAng="5400000"/>
                <a:lnTo>
                  <a:pt x="76200" y="3225800"/>
                </a:lnTo>
                <a:arcTo wR="76200" hR="76200" stAng="5400000" swAng="5400000"/>
                <a:lnTo>
                  <a:pt x="0" y="0"/>
                </a:lnTo>
                <a:close/>
              </a:path>
            </a:pathLst>
          </a:custGeom>
          <a:solidFill>
            <a:srgbClr val="0F1B33"/>
          </a:solidFill>
          <a:ln/>
        </p:spPr>
        <p:txBody>
          <a:bodyPr wrap="square" lIns="139700" tIns="127000" rIns="0" bIns="101600" rtlCol="0" anchor="t">
            <a:no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-- Parent topics first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INSERT INTO topic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(name, description, parent_topic_id)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VALUES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('Programming Fundamentals',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'Core programming concepts', NULL),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('Database Systems',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'Relational database concepts', NULL);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-- Then child topics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INSERT INTO topic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(name, description, parent_topic_id)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VALUES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('Arrays', 'Array operations and traversal', 1),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('SQL Queries', 'Filtering, joins and aggregation', 2);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8650" y="4969514"/>
            <a:ext cx="0" cy="396240"/>
          </a:xfrm>
          <a:prstGeom prst="line">
            <a:avLst/>
          </a:prstGeom>
          <a:noFill/>
          <a:ln w="38100">
            <a:solidFill>
              <a:srgbClr val="C9962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772160" y="4969514"/>
            <a:ext cx="11134547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and topic records form the base data referenced by learning items, performance records and recommendations.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i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values are demonstration placeholders, not secure hashes; real accounts must store securely hashed passwords.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600" y="6365242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Learning Platform · Phase 2 · 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6 · Data Population (DML)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746764"/>
            <a:ext cx="11301984" cy="40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i="0" dirty="0">
                <a:solidFill>
                  <a:srgbClr val="14284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Populating Learning Items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50950"/>
            <a:ext cx="5888196" cy="365760"/>
          </a:xfrm>
          <a:custGeom>
            <a:avLst/>
            <a:gdLst/>
            <a:ahLst/>
            <a:cxnLst/>
            <a:rect l="l" t="t" r="r" b="b"/>
            <a:pathLst>
              <a:path w="5888196" h="365760">
                <a:moveTo>
                  <a:pt x="76200" y="0"/>
                </a:moveTo>
                <a:lnTo>
                  <a:pt x="5811996" y="0"/>
                </a:lnTo>
                <a:arcTo wR="76200" hR="76200" stAng="16200000" swAng="5400000"/>
                <a:lnTo>
                  <a:pt x="5888196" y="365760"/>
                </a:lnTo>
                <a:lnTo>
                  <a:pt x="0" y="365760"/>
                </a:lnTo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14284B"/>
          </a:solidFill>
          <a:ln/>
        </p:spPr>
        <p:txBody>
          <a:bodyPr wrap="square" lIns="139700" tIns="63500" rIns="139700" bIns="63500" rtlCol="0" anchor="ctr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learning_item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600" y="1616714"/>
            <a:ext cx="5888196" cy="2631440"/>
          </a:xfrm>
          <a:custGeom>
            <a:avLst/>
            <a:gdLst/>
            <a:ahLst/>
            <a:cxnLst/>
            <a:rect l="l" t="t" r="r" b="b"/>
            <a:pathLst>
              <a:path w="5888196" h="2631440">
                <a:moveTo>
                  <a:pt x="0" y="0"/>
                </a:moveTo>
                <a:lnTo>
                  <a:pt x="5888196" y="0"/>
                </a:lnTo>
                <a:lnTo>
                  <a:pt x="5888196" y="2555240"/>
                </a:lnTo>
                <a:arcTo wR="76200" hR="76200" stAng="0" swAng="5400000"/>
                <a:lnTo>
                  <a:pt x="76200" y="2631440"/>
                </a:lnTo>
                <a:arcTo wR="76200" hR="76200" stAng="5400000" swAng="5400000"/>
                <a:lnTo>
                  <a:pt x="0" y="0"/>
                </a:lnTo>
                <a:close/>
              </a:path>
            </a:pathLst>
          </a:custGeom>
          <a:solidFill>
            <a:srgbClr val="0F1B33"/>
          </a:solidFill>
          <a:ln/>
        </p:spPr>
        <p:txBody>
          <a:bodyPr wrap="square" lIns="139700" tIns="127000" rIns="0" bIns="101600" rtlCol="0" anchor="t">
            <a:no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INSERT INTO learning_item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(topic_id, title, difficulty,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item_type, created_at)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VALUES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(3, 'Array Basics', 2, 'QUIZ',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'2026-10-02 10:00:00'),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(4, 'SQL Joins', 3, 'QUIZ',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'2026-10-02 10:15:00'),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(2, 'Student Task Tracker', 4, 'PROJECT',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'2026-10-02 11:00:00'),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(3, 'Array Practice Lab', 2, 'PROJECT',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'2026-10-02 11:30:00');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85756" y="1261110"/>
          <a:ext cx="4896644" cy="2115820"/>
        </p:xfrm>
        <a:graphic>
          <a:graphicData uri="http://schemas.openxmlformats.org/drawingml/2006/table">
            <a:tbl>
              <a:tblPr/>
              <a:tblGrid>
                <a:gridCol w="12241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1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78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 ID*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Learning item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Topic 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8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Array Basics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QUIZ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8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 Joins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QUIZ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118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Student Task Tracker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118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Array Practice Lab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675596" y="3453129"/>
            <a:ext cx="50540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*IDs assume an empty table with its sequence starting at 1.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8650" y="4375150"/>
            <a:ext cx="0" cy="214630"/>
          </a:xfrm>
          <a:prstGeom prst="line">
            <a:avLst/>
          </a:prstGeom>
          <a:noFill/>
          <a:ln w="38100">
            <a:solidFill>
              <a:srgbClr val="C9962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 6"/>
          <p:cNvSpPr/>
          <p:nvPr/>
        </p:nvSpPr>
        <p:spPr>
          <a:xfrm>
            <a:off x="772160" y="4375150"/>
            <a:ext cx="11134547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 demonstrated:</a:t>
            </a:r>
            <a:r>
              <a:rPr lang="en-US" sz="13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learning item has a primary key, a topic reference, a difficulty between 1 and 5, and a valid item type.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09600" y="6365242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Learning Platform · Phase 2 · 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6 · Data Population (DML)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746764"/>
            <a:ext cx="11301984" cy="40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i="0" dirty="0">
                <a:solidFill>
                  <a:srgbClr val="14284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Populating Subclass Tables — Quiz and Project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50950"/>
            <a:ext cx="5435600" cy="365760"/>
          </a:xfrm>
          <a:custGeom>
            <a:avLst/>
            <a:gdLst/>
            <a:ahLst/>
            <a:cxnLst/>
            <a:rect l="l" t="t" r="r" b="b"/>
            <a:pathLst>
              <a:path w="5435600" h="365760">
                <a:moveTo>
                  <a:pt x="76200" y="0"/>
                </a:moveTo>
                <a:lnTo>
                  <a:pt x="5359400" y="0"/>
                </a:lnTo>
                <a:arcTo wR="76200" hR="76200" stAng="16200000" swAng="5400000"/>
                <a:lnTo>
                  <a:pt x="5435600" y="365760"/>
                </a:lnTo>
                <a:lnTo>
                  <a:pt x="0" y="365760"/>
                </a:lnTo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14284B"/>
          </a:solidFill>
          <a:ln/>
        </p:spPr>
        <p:txBody>
          <a:bodyPr wrap="square" lIns="139700" tIns="63500" rIns="139700" bIns="63500" rtlCol="0" anchor="ctr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quiz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600" y="1616714"/>
            <a:ext cx="5435600" cy="1244600"/>
          </a:xfrm>
          <a:custGeom>
            <a:avLst/>
            <a:gdLst/>
            <a:ahLst/>
            <a:cxnLst/>
            <a:rect l="l" t="t" r="r" b="b"/>
            <a:pathLst>
              <a:path w="5435600" h="1244600">
                <a:moveTo>
                  <a:pt x="0" y="0"/>
                </a:moveTo>
                <a:lnTo>
                  <a:pt x="5435600" y="0"/>
                </a:lnTo>
                <a:lnTo>
                  <a:pt x="5435600" y="1168400"/>
                </a:lnTo>
                <a:arcTo wR="76200" hR="76200" stAng="0" swAng="5400000"/>
                <a:lnTo>
                  <a:pt x="76200" y="1244600"/>
                </a:lnTo>
                <a:arcTo wR="76200" hR="76200" stAng="5400000" swAng="5400000"/>
                <a:lnTo>
                  <a:pt x="0" y="0"/>
                </a:lnTo>
                <a:close/>
              </a:path>
            </a:pathLst>
          </a:custGeom>
          <a:solidFill>
            <a:srgbClr val="0F1B33"/>
          </a:solidFill>
          <a:ln/>
        </p:spPr>
        <p:txBody>
          <a:bodyPr wrap="square" lIns="139700" tIns="127000" rIns="0" bIns="10160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INSERT INTO quiz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(item_id, time_limit_min, pass_mark)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VALUES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(1, 15, 60),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(2, 20, 70);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146800" y="1250950"/>
            <a:ext cx="5435600" cy="365760"/>
          </a:xfrm>
          <a:custGeom>
            <a:avLst/>
            <a:gdLst/>
            <a:ahLst/>
            <a:cxnLst/>
            <a:rect l="l" t="t" r="r" b="b"/>
            <a:pathLst>
              <a:path w="5435600" h="365760">
                <a:moveTo>
                  <a:pt x="76200" y="0"/>
                </a:moveTo>
                <a:lnTo>
                  <a:pt x="5359400" y="0"/>
                </a:lnTo>
                <a:arcTo wR="76200" hR="76200" stAng="16200000" swAng="5400000"/>
                <a:lnTo>
                  <a:pt x="5435600" y="365760"/>
                </a:lnTo>
                <a:lnTo>
                  <a:pt x="0" y="365760"/>
                </a:lnTo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14284B"/>
          </a:solidFill>
          <a:ln/>
        </p:spPr>
        <p:txBody>
          <a:bodyPr wrap="square" lIns="139700" tIns="63500" rIns="139700" bIns="63500" rtlCol="0" anchor="ctr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project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46800" y="1616714"/>
            <a:ext cx="5435600" cy="1640840"/>
          </a:xfrm>
          <a:custGeom>
            <a:avLst/>
            <a:gdLst/>
            <a:ahLst/>
            <a:cxnLst/>
            <a:rect l="l" t="t" r="r" b="b"/>
            <a:pathLst>
              <a:path w="5435600" h="1640840">
                <a:moveTo>
                  <a:pt x="0" y="0"/>
                </a:moveTo>
                <a:lnTo>
                  <a:pt x="5435600" y="0"/>
                </a:lnTo>
                <a:lnTo>
                  <a:pt x="5435600" y="1564640"/>
                </a:lnTo>
                <a:arcTo wR="76200" hR="76200" stAng="0" swAng="5400000"/>
                <a:lnTo>
                  <a:pt x="76200" y="1640840"/>
                </a:lnTo>
                <a:arcTo wR="76200" hR="76200" stAng="5400000" swAng="5400000"/>
                <a:lnTo>
                  <a:pt x="0" y="0"/>
                </a:lnTo>
                <a:close/>
              </a:path>
            </a:pathLst>
          </a:custGeom>
          <a:solidFill>
            <a:srgbClr val="0F1B33"/>
          </a:solidFill>
          <a:ln/>
        </p:spPr>
        <p:txBody>
          <a:bodyPr wrap="square" lIns="139700" tIns="127000" rIns="0" bIns="10160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INSERT INTO project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(item_id, est_hours, repo_url)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VALUES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(3, 8.0,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'https://github.com/example/task-tracker'),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(4, 4.5,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'https://github.com/example/array-practice');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93420" y="3384550"/>
            <a:ext cx="11210544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0180" indent="-170180" algn="l">
              <a:lnSpc>
                <a:spcPts val="2025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records store time limits and passing marks.</a:t>
            </a:r>
            <a:endParaRPr lang="en-US" sz="1500" dirty="0"/>
          </a:p>
          <a:p>
            <a:pPr marL="170180" indent="-170180" algn="l">
              <a:lnSpc>
                <a:spcPts val="2025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records store estimated completion time and repository links.</a:t>
            </a:r>
            <a:endParaRPr lang="en-US" sz="1500" dirty="0"/>
          </a:p>
          <a:p>
            <a:pPr marL="170180" indent="-170180" algn="l">
              <a:lnSpc>
                <a:spcPts val="2025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 references an existing learning_item through item_id.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9600" y="6365242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Learning Platform · Phase 2 · 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6 · Data Population (DML)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746764"/>
            <a:ext cx="11301984" cy="40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i="0" dirty="0">
                <a:solidFill>
                  <a:srgbClr val="14284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Populating Project Technologies and Questions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50950"/>
            <a:ext cx="3459004" cy="365760"/>
          </a:xfrm>
          <a:custGeom>
            <a:avLst/>
            <a:gdLst/>
            <a:ahLst/>
            <a:cxnLst/>
            <a:rect l="l" t="t" r="r" b="b"/>
            <a:pathLst>
              <a:path w="3459004" h="365760">
                <a:moveTo>
                  <a:pt x="76200" y="0"/>
                </a:moveTo>
                <a:lnTo>
                  <a:pt x="3382804" y="0"/>
                </a:lnTo>
                <a:arcTo wR="76200" hR="76200" stAng="16200000" swAng="5400000"/>
                <a:lnTo>
                  <a:pt x="3459004" y="365760"/>
                </a:lnTo>
                <a:lnTo>
                  <a:pt x="0" y="365760"/>
                </a:lnTo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14284B"/>
          </a:solidFill>
          <a:ln/>
        </p:spPr>
        <p:txBody>
          <a:bodyPr wrap="square" lIns="139700" tIns="63500" rIns="139700" bIns="63500" rtlCol="0" anchor="ctr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project_tech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600" y="1616714"/>
            <a:ext cx="3459004" cy="1640840"/>
          </a:xfrm>
          <a:custGeom>
            <a:avLst/>
            <a:gdLst/>
            <a:ahLst/>
            <a:cxnLst/>
            <a:rect l="l" t="t" r="r" b="b"/>
            <a:pathLst>
              <a:path w="3459004" h="1640840">
                <a:moveTo>
                  <a:pt x="0" y="0"/>
                </a:moveTo>
                <a:lnTo>
                  <a:pt x="3459004" y="0"/>
                </a:lnTo>
                <a:lnTo>
                  <a:pt x="3459004" y="1564640"/>
                </a:lnTo>
                <a:arcTo wR="76200" hR="76200" stAng="0" swAng="5400000"/>
                <a:lnTo>
                  <a:pt x="76200" y="1640840"/>
                </a:lnTo>
                <a:arcTo wR="76200" hR="76200" stAng="5400000" swAng="5400000"/>
                <a:lnTo>
                  <a:pt x="0" y="0"/>
                </a:lnTo>
                <a:close/>
              </a:path>
            </a:pathLst>
          </a:custGeom>
          <a:solidFill>
            <a:srgbClr val="0F1B33"/>
          </a:solidFill>
          <a:ln/>
        </p:spPr>
        <p:txBody>
          <a:bodyPr wrap="square" lIns="139700" tIns="127000" rIns="44312" bIns="10160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INSERT INTO project_tech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(item_id, tech)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VALUES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(3, 'Python'),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(3, 'PostgreSQL'),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(4, 'Python'),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(4, 'Git');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70204" y="1250950"/>
            <a:ext cx="7412196" cy="365760"/>
          </a:xfrm>
          <a:custGeom>
            <a:avLst/>
            <a:gdLst/>
            <a:ahLst/>
            <a:cxnLst/>
            <a:rect l="l" t="t" r="r" b="b"/>
            <a:pathLst>
              <a:path w="7412196" h="365760">
                <a:moveTo>
                  <a:pt x="76200" y="0"/>
                </a:moveTo>
                <a:lnTo>
                  <a:pt x="7335996" y="0"/>
                </a:lnTo>
                <a:arcTo wR="76200" hR="76200" stAng="16200000" swAng="5400000"/>
                <a:lnTo>
                  <a:pt x="7412196" y="365760"/>
                </a:lnTo>
                <a:lnTo>
                  <a:pt x="0" y="365760"/>
                </a:lnTo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14284B"/>
          </a:solidFill>
          <a:ln/>
        </p:spPr>
        <p:txBody>
          <a:bodyPr wrap="square" lIns="139700" tIns="63500" rIns="139700" bIns="63500" rtlCol="0" anchor="ctr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question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70204" y="1616714"/>
            <a:ext cx="7412196" cy="2631440"/>
          </a:xfrm>
          <a:custGeom>
            <a:avLst/>
            <a:gdLst/>
            <a:ahLst/>
            <a:cxnLst/>
            <a:rect l="l" t="t" r="r" b="b"/>
            <a:pathLst>
              <a:path w="7412196" h="2631440">
                <a:moveTo>
                  <a:pt x="0" y="0"/>
                </a:moveTo>
                <a:lnTo>
                  <a:pt x="7412196" y="0"/>
                </a:lnTo>
                <a:lnTo>
                  <a:pt x="7412196" y="2555240"/>
                </a:lnTo>
                <a:arcTo wR="76200" hR="76200" stAng="0" swAng="5400000"/>
                <a:lnTo>
                  <a:pt x="76200" y="2631440"/>
                </a:lnTo>
                <a:arcTo wR="76200" hR="76200" stAng="5400000" swAng="5400000"/>
                <a:lnTo>
                  <a:pt x="0" y="0"/>
                </a:lnTo>
                <a:close/>
              </a:path>
            </a:pathLst>
          </a:custGeom>
          <a:solidFill>
            <a:srgbClr val="0F1B33"/>
          </a:solidFill>
          <a:ln/>
        </p:spPr>
        <p:txBody>
          <a:bodyPr wrap="square" lIns="139700" tIns="127000" rIns="0" bIns="101600" rtlCol="0" anchor="t">
            <a:no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INSERT INTO question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(quiz_id, question_no, question_text,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correct_answer, marks)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VALUES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(1, 1, 'What is the first index of an array?',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'0', 2),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(1, 2, 'What is the process of visiting array elements?',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'Traversal', 3),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(2, 1, 'Which SQL operation combines matching rows?',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'JOIN', 2),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(2, 2, 'Which clause filters grouped results?',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'HAVING', 3);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06882" y="4375150"/>
            <a:ext cx="11197082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6718" indent="-156718" algn="l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can have multiple associated technologies.</a:t>
            </a:r>
            <a:endParaRPr lang="en-US" sz="1400" dirty="0"/>
          </a:p>
          <a:p>
            <a:pPr marL="156718" indent="-156718" algn="l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question belongs to an existing quiz.</a:t>
            </a:r>
            <a:endParaRPr lang="en-US" sz="1400" dirty="0"/>
          </a:p>
          <a:p>
            <a:pPr marL="156718" indent="-156718" algn="l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 keys prevent duplicate technologies per project and duplicate question numbers within a quiz.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9600" y="6365242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Learning Platform · Phase 2 · 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6 · Data Population (DML)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746764"/>
            <a:ext cx="11301984" cy="40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i="0" dirty="0">
                <a:solidFill>
                  <a:srgbClr val="14284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Populating Learning Records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50950"/>
            <a:ext cx="6643053" cy="365760"/>
          </a:xfrm>
          <a:custGeom>
            <a:avLst/>
            <a:gdLst/>
            <a:ahLst/>
            <a:cxnLst/>
            <a:rect l="l" t="t" r="r" b="b"/>
            <a:pathLst>
              <a:path w="6643053" h="365760">
                <a:moveTo>
                  <a:pt x="76200" y="0"/>
                </a:moveTo>
                <a:lnTo>
                  <a:pt x="6566853" y="0"/>
                </a:lnTo>
                <a:arcTo wR="76200" hR="76200" stAng="16200000" swAng="5400000"/>
                <a:lnTo>
                  <a:pt x="6643053" y="365760"/>
                </a:lnTo>
                <a:lnTo>
                  <a:pt x="0" y="365760"/>
                </a:lnTo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14284B"/>
          </a:solidFill>
          <a:ln/>
        </p:spPr>
        <p:txBody>
          <a:bodyPr wrap="square" lIns="139700" tIns="63500" rIns="139700" bIns="63500" rtlCol="0" anchor="ctr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learning_record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600" y="1616714"/>
            <a:ext cx="6643053" cy="3027680"/>
          </a:xfrm>
          <a:custGeom>
            <a:avLst/>
            <a:gdLst/>
            <a:ahLst/>
            <a:cxnLst/>
            <a:rect l="l" t="t" r="r" b="b"/>
            <a:pathLst>
              <a:path w="6643053" h="3027680">
                <a:moveTo>
                  <a:pt x="0" y="0"/>
                </a:moveTo>
                <a:lnTo>
                  <a:pt x="6643053" y="0"/>
                </a:lnTo>
                <a:lnTo>
                  <a:pt x="6643053" y="2951480"/>
                </a:lnTo>
                <a:arcTo wR="76200" hR="76200" stAng="0" swAng="5400000"/>
                <a:lnTo>
                  <a:pt x="76200" y="3027680"/>
                </a:lnTo>
                <a:arcTo wR="76200" hR="76200" stAng="5400000" swAng="5400000"/>
                <a:lnTo>
                  <a:pt x="0" y="0"/>
                </a:lnTo>
                <a:close/>
              </a:path>
            </a:pathLst>
          </a:custGeom>
          <a:solidFill>
            <a:srgbClr val="0F1B33"/>
          </a:solidFill>
          <a:ln/>
        </p:spPr>
        <p:txBody>
          <a:bodyPr wrap="square" lIns="139700" tIns="127000" rIns="0" bIns="101600" rtlCol="0" anchor="t">
            <a:no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INSERT INTO learning_record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(user_id, item_id, attempt_no, status,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score, started_at, completed_at)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VALUES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(1, 1, 1, 'completed', 85.00,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'2026-10-03 10:00:00', '2026-10-03 10:15:00'),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(1, 2, 1, 'completed', 55.00,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'2026-10-03 11:00:00', '2026-10-03 11:20:00'),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(2, 1, 1, 'completed', 62.00,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'2026-10-04 09:00:00', '2026-10-04 09:15:00'),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(2, 1, 2, 'completed', 82.00,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'2026-10-05 09:00:00', '2026-10-05 09:15:00'),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(3, 3, 1, 'submitted', 90.00,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'2026-10-05 14:00:00', '2026-10-05 16:00:00');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430453" y="1250950"/>
            <a:ext cx="427650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84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What this data demonstrates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28497" y="1555750"/>
            <a:ext cx="4170842" cy="1585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can attempt the same item multiple times.</a:t>
            </a:r>
            <a:endParaRPr lang="en-US" sz="1300" dirty="0"/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attempt records a status, score and timestamps.</a:t>
            </a:r>
            <a:endParaRPr lang="en-US" sz="1300" dirty="0"/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composite primary key identifies each attempt uniquely.</a:t>
            </a:r>
            <a:endParaRPr lang="en-US" sz="1300" dirty="0"/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give historical performance data for topic analysis and recommendations.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600" y="6365242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Learning Platform · Phase 2 · 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6 · Data Population (DML)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746764"/>
            <a:ext cx="11301984" cy="40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i="0" dirty="0">
                <a:solidFill>
                  <a:srgbClr val="14284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Populating Topic Proficiency and Recommendations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50950"/>
            <a:ext cx="5435600" cy="365760"/>
          </a:xfrm>
          <a:custGeom>
            <a:avLst/>
            <a:gdLst/>
            <a:ahLst/>
            <a:cxnLst/>
            <a:rect l="l" t="t" r="r" b="b"/>
            <a:pathLst>
              <a:path w="5435600" h="365760">
                <a:moveTo>
                  <a:pt x="76200" y="0"/>
                </a:moveTo>
                <a:lnTo>
                  <a:pt x="5359400" y="0"/>
                </a:lnTo>
                <a:arcTo wR="76200" hR="76200" stAng="16200000" swAng="5400000"/>
                <a:lnTo>
                  <a:pt x="5435600" y="365760"/>
                </a:lnTo>
                <a:lnTo>
                  <a:pt x="0" y="365760"/>
                </a:lnTo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14284B"/>
          </a:solidFill>
          <a:ln/>
        </p:spPr>
        <p:txBody>
          <a:bodyPr wrap="square" lIns="139700" tIns="63500" rIns="139700" bIns="63500" rtlCol="0" anchor="ctr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topic_proficiency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600" y="1616714"/>
            <a:ext cx="5435600" cy="1838960"/>
          </a:xfrm>
          <a:custGeom>
            <a:avLst/>
            <a:gdLst/>
            <a:ahLst/>
            <a:cxnLst/>
            <a:rect l="l" t="t" r="r" b="b"/>
            <a:pathLst>
              <a:path w="5435600" h="1838960">
                <a:moveTo>
                  <a:pt x="0" y="0"/>
                </a:moveTo>
                <a:lnTo>
                  <a:pt x="5435600" y="0"/>
                </a:lnTo>
                <a:lnTo>
                  <a:pt x="5435600" y="1762760"/>
                </a:lnTo>
                <a:arcTo wR="76200" hR="76200" stAng="0" swAng="5400000"/>
                <a:lnTo>
                  <a:pt x="76200" y="1838960"/>
                </a:lnTo>
                <a:arcTo wR="76200" hR="76200" stAng="5400000" swAng="5400000"/>
                <a:lnTo>
                  <a:pt x="0" y="0"/>
                </a:lnTo>
                <a:close/>
              </a:path>
            </a:pathLst>
          </a:custGeom>
          <a:solidFill>
            <a:srgbClr val="0F1B33"/>
          </a:solidFill>
          <a:ln/>
        </p:spPr>
        <p:txBody>
          <a:bodyPr wrap="square" lIns="139700" tIns="127000" rIns="0" bIns="101600" rtlCol="0" anchor="t">
            <a:normAutofit fontScale="92500"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INSERT INTO topic_proficiency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(user_id, topic_id, proficiency_score,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attempts_count, last_updated)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VALUES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(1, 3, 85.00, 1, '2026-10-05 10:00:00'),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(1, 4, 55.00, 1, '2026-10-03 11:20:00'),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(2, 3, 82.00, 2, '2026-10-05 09:15:00'),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(3, 2, 90.00, 1, '2026-10-05 16:00:00');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146800" y="1250950"/>
            <a:ext cx="5435600" cy="365760"/>
          </a:xfrm>
          <a:custGeom>
            <a:avLst/>
            <a:gdLst/>
            <a:ahLst/>
            <a:cxnLst/>
            <a:rect l="l" t="t" r="r" b="b"/>
            <a:pathLst>
              <a:path w="5435600" h="365760">
                <a:moveTo>
                  <a:pt x="76200" y="0"/>
                </a:moveTo>
                <a:lnTo>
                  <a:pt x="5359400" y="0"/>
                </a:lnTo>
                <a:arcTo wR="76200" hR="76200" stAng="16200000" swAng="5400000"/>
                <a:lnTo>
                  <a:pt x="5435600" y="365760"/>
                </a:lnTo>
                <a:lnTo>
                  <a:pt x="0" y="365760"/>
                </a:lnTo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14284B"/>
          </a:solidFill>
          <a:ln/>
        </p:spPr>
        <p:txBody>
          <a:bodyPr wrap="square" lIns="139700" tIns="63500" rIns="139700" bIns="63500" rtlCol="0" anchor="ctr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recommendation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46800" y="1616714"/>
            <a:ext cx="5435600" cy="3423920"/>
          </a:xfrm>
          <a:custGeom>
            <a:avLst/>
            <a:gdLst/>
            <a:ahLst/>
            <a:cxnLst/>
            <a:rect l="l" t="t" r="r" b="b"/>
            <a:pathLst>
              <a:path w="5435600" h="3423920">
                <a:moveTo>
                  <a:pt x="0" y="0"/>
                </a:moveTo>
                <a:lnTo>
                  <a:pt x="5435600" y="0"/>
                </a:lnTo>
                <a:lnTo>
                  <a:pt x="5435600" y="3347720"/>
                </a:lnTo>
                <a:arcTo wR="76200" hR="76200" stAng="0" swAng="5400000"/>
                <a:lnTo>
                  <a:pt x="76200" y="3423920"/>
                </a:lnTo>
                <a:arcTo wR="76200" hR="76200" stAng="5400000" swAng="5400000"/>
                <a:lnTo>
                  <a:pt x="0" y="0"/>
                </a:lnTo>
                <a:close/>
              </a:path>
            </a:pathLst>
          </a:custGeom>
          <a:solidFill>
            <a:srgbClr val="0F1B33"/>
          </a:solidFill>
          <a:ln/>
        </p:spPr>
        <p:txBody>
          <a:bodyPr wrap="square" lIns="139700" tIns="127000" rIns="0" bIns="101600" rtlCol="0" anchor="t">
            <a:no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INSERT INTO recommendation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(user_id, item_id, rank_score,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reason, status, created_at)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VALUES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(1, 2, 0.9700,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'Low proficiency in SQL Queries',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'active', '2026-10-06 09:00:00'),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(1, 4, 0.8200,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'Additional array practice',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'active', '2026-10-06 09:00:00'),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(2, 3, 0.9000,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'Practice through a programming project',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'active', '2026-10-06 09:05:00'),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(3, 2, 0.7500,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'Strengthen SQL query skills',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'active', '2026-10-06 09:10:00');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8650" y="5167629"/>
            <a:ext cx="0" cy="396240"/>
          </a:xfrm>
          <a:prstGeom prst="line">
            <a:avLst/>
          </a:prstGeom>
          <a:noFill/>
          <a:ln w="38100">
            <a:solidFill>
              <a:srgbClr val="C9962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772160" y="5167629"/>
            <a:ext cx="11134547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topic_proficiency</a:t>
            </a:r>
            <a:r>
              <a:rPr lang="en-US" sz="1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records each student's proficiency per topic; </a:t>
            </a:r>
            <a:r>
              <a:rPr lang="en-US" sz="1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r>
              <a:rPr lang="en-US" sz="1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stores suggested items with a rank score, reason and status. These are demonstration records, not the output of a running recommendation algorithm.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600" y="6365242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Learning Platform · Phase 2 · 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6 · Data Population (DML)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746764"/>
            <a:ext cx="11301984" cy="40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i="0" dirty="0">
                <a:solidFill>
                  <a:srgbClr val="14284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Data Population Verification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50950"/>
            <a:ext cx="6477000" cy="365760"/>
          </a:xfrm>
          <a:custGeom>
            <a:avLst/>
            <a:gdLst/>
            <a:ahLst/>
            <a:cxnLst/>
            <a:rect l="l" t="t" r="r" b="b"/>
            <a:pathLst>
              <a:path w="6477000" h="365760">
                <a:moveTo>
                  <a:pt x="76200" y="0"/>
                </a:moveTo>
                <a:lnTo>
                  <a:pt x="6400800" y="0"/>
                </a:lnTo>
                <a:arcTo wR="76200" hR="76200" stAng="16200000" swAng="5400000"/>
                <a:lnTo>
                  <a:pt x="6477000" y="365760"/>
                </a:lnTo>
                <a:lnTo>
                  <a:pt x="0" y="365760"/>
                </a:lnTo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14284B"/>
          </a:solidFill>
          <a:ln/>
        </p:spPr>
        <p:txBody>
          <a:bodyPr wrap="square" lIns="139700" tIns="63500" rIns="139700" bIns="63500" rtlCol="0" anchor="ctr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Record-count query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600" y="1616708"/>
            <a:ext cx="6477000" cy="2433320"/>
          </a:xfrm>
          <a:custGeom>
            <a:avLst/>
            <a:gdLst/>
            <a:ahLst/>
            <a:cxnLst/>
            <a:rect l="l" t="t" r="r" b="b"/>
            <a:pathLst>
              <a:path w="6477000" h="2433320">
                <a:moveTo>
                  <a:pt x="0" y="0"/>
                </a:moveTo>
                <a:lnTo>
                  <a:pt x="6477000" y="0"/>
                </a:lnTo>
                <a:lnTo>
                  <a:pt x="6477000" y="2357120"/>
                </a:lnTo>
                <a:arcTo wR="76200" hR="76200" stAng="0" swAng="5400000"/>
                <a:lnTo>
                  <a:pt x="76200" y="2433320"/>
                </a:lnTo>
                <a:arcTo wR="76200" hR="76200" stAng="5400000" swAng="5400000"/>
                <a:lnTo>
                  <a:pt x="0" y="0"/>
                </a:lnTo>
                <a:close/>
              </a:path>
            </a:pathLst>
          </a:custGeom>
          <a:solidFill>
            <a:srgbClr val="0F1B33"/>
          </a:solidFill>
          <a:ln/>
        </p:spPr>
        <p:txBody>
          <a:bodyPr wrap="square" lIns="139700" tIns="127000" rIns="0" bIns="101600" rtlCol="0" anchor="t">
            <a:no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SELECT 'users' AS table_name, COUNT(*) AS records FROM users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UNION ALL SELECT 'topic', COUNT(*) FROM topic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UNION ALL SELECT 'learning_item', COUNT(*) FROM learning_item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UNION ALL SELECT 'quiz', COUNT(*) FROM quiz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UNION ALL SELECT 'project', COUNT(*) FROM project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UNION ALL SELECT 'project_tech', COUNT(*) FROM project_tech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UNION ALL SELECT 'question', COUNT(*) FROM question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UNION ALL SELECT 'learning_record', COUNT(*) FROM learning_record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UNION ALL SELECT 'topic_proficiency', COUNT(*) FROM topic_proficiency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UNION ALL SELECT 'recommendation', COUNT(*) FROM recommendation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ORDER BY table_name;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74560" y="1261110"/>
          <a:ext cx="4307840" cy="3596640"/>
        </p:xfrm>
        <a:graphic>
          <a:graphicData uri="http://schemas.openxmlformats.org/drawingml/2006/table">
            <a:tbl>
              <a:tblPr/>
              <a:tblGrid>
                <a:gridCol w="2153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3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97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Expected records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learning_item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quiz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project_tech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question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learning_record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topic_proficiency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recommendation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09600" y="4984750"/>
            <a:ext cx="11301984" cy="238760"/>
          </a:xfrm>
          <a:prstGeom prst="rect">
            <a:avLst/>
          </a:prstGeom>
          <a:solidFill>
            <a:srgbClr val="0F1B33"/>
          </a:solidFill>
          <a:ln>
            <a:noFill/>
          </a:ln>
        </p:spPr>
        <p:txBody>
          <a:bodyPr wrap="square" lIns="0" tIns="73152" rIns="0" bIns="73152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Arial" pitchFamily="34" charset="-122"/>
                <a:cs typeface="Arial" pitchFamily="34" charset="-120"/>
              </a:rPr>
              <a:t>Output: 12 rows, total = 36 (matches expected counts)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8650" y="5325108"/>
            <a:ext cx="0" cy="396240"/>
          </a:xfrm>
          <a:prstGeom prst="line">
            <a:avLst/>
          </a:prstGeom>
          <a:noFill/>
          <a:ln w="38100">
            <a:solidFill>
              <a:srgbClr val="C9962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 6"/>
          <p:cNvSpPr/>
          <p:nvPr/>
        </p:nvSpPr>
        <p:spPr>
          <a:xfrm>
            <a:off x="772160" y="5325108"/>
            <a:ext cx="11134547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Meaningful sample data has been prepared for all 10 tables, supporting student activity tracking, topic proficiency analysis and the storage of learning recommendations.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09600" y="6365242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Learning Platform · Phase 2 · 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7 · Front-End Design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746758"/>
            <a:ext cx="11301984" cy="40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i="0" dirty="0">
                <a:solidFill>
                  <a:srgbClr val="14284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Front-End Design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6365242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Learning Platform · Phase 2 · 17</a:t>
            </a:r>
            <a:endParaRPr lang="en-US" sz="1200" dirty="0"/>
          </a:p>
        </p:txBody>
      </p:sp>
      <p:pic>
        <p:nvPicPr>
          <p:cNvPr id="5" name="Picture 4" descr="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4" y="1280160"/>
            <a:ext cx="5760720" cy="43205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675120" y="1280160"/>
            <a:ext cx="4937760" cy="365760"/>
          </a:xfrm>
          <a:prstGeom prst="rect">
            <a:avLst/>
          </a:prstGeom>
          <a:solidFill>
            <a:srgbClr val="142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onsolas"/>
              </a:rPr>
              <a:t>Quiz Companion web interface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1645920"/>
            <a:ext cx="4937760" cy="33832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54864" bIns="54864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3"/>
                </a:solidFill>
                <a:latin typeface="Arial"/>
              </a:rPr>
              <a:t>React 19 + Vite single-page app, styled as a dark dashboard.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3"/>
                </a:solidFill>
                <a:latin typeface="Arial"/>
              </a:rPr>
              <a:t>Student switcher in the top bar; every page re-queries PostgreSQL for that student.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3"/>
                </a:solidFill>
                <a:latin typeface="Arial"/>
              </a:rPr>
              <a:t>Dashboard: attempts, average score, topic proficiency chart, recent attempts and ranked recommendations.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3"/>
                </a:solidFill>
                <a:latin typeface="Arial"/>
              </a:rPr>
              <a:t>Recommendations can be marked Done, Dismissed or Restored (UPDATE on recommendation.status).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3"/>
                </a:solidFill>
                <a:latin typeface="Arial"/>
              </a:rPr>
              <a:t>No data is hard-coded in the front end: every number comes from the 10 PostgreSQL tables through the API.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904" y="5486400"/>
            <a:ext cx="109728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4A5563"/>
                </a:solidFill>
                <a:latin typeface="Arial"/>
              </a:rPr>
              <a:t>Screenshot: Dashboard page running on the sample data from Part 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8 · Business logic implementation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746758"/>
            <a:ext cx="11301984" cy="40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i="0" dirty="0">
                <a:solidFill>
                  <a:srgbClr val="14284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Business Logic: Rules Behind the Front End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50950"/>
            <a:ext cx="11301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constraints, functions and triggers enforce the workflow of the adaptive learning platform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600" y="1751335"/>
            <a:ext cx="1828800" cy="792480"/>
          </a:xfrm>
          <a:prstGeom prst="roundRect">
            <a:avLst>
              <a:gd name="adj" fmla="val 9615"/>
            </a:avLst>
          </a:prstGeom>
          <a:solidFill>
            <a:srgbClr val="14284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673100" y="1916435"/>
            <a:ext cx="1701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73100" y="2129792"/>
            <a:ext cx="170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input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27300" y="1951992"/>
            <a:ext cx="33528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895600" y="1751335"/>
            <a:ext cx="1828800" cy="792480"/>
          </a:xfrm>
          <a:prstGeom prst="roundRect">
            <a:avLst>
              <a:gd name="adj" fmla="val 9615"/>
            </a:avLst>
          </a:prstGeom>
          <a:solidFill>
            <a:srgbClr val="14284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2959100" y="1916435"/>
            <a:ext cx="1701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59100" y="2129792"/>
            <a:ext cx="170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attempt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13300" y="1951992"/>
            <a:ext cx="33528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181600" y="1751335"/>
            <a:ext cx="1828800" cy="792480"/>
          </a:xfrm>
          <a:prstGeom prst="roundRect">
            <a:avLst>
              <a:gd name="adj" fmla="val 9615"/>
            </a:avLst>
          </a:prstGeom>
          <a:solidFill>
            <a:srgbClr val="14284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4" name="Text 12"/>
          <p:cNvSpPr/>
          <p:nvPr/>
        </p:nvSpPr>
        <p:spPr>
          <a:xfrm>
            <a:off x="5245100" y="1916435"/>
            <a:ext cx="1701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81600" y="2129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proficiency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99300" y="1951992"/>
            <a:ext cx="33528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467600" y="1751335"/>
            <a:ext cx="1828800" cy="792480"/>
          </a:xfrm>
          <a:prstGeom prst="roundRect">
            <a:avLst>
              <a:gd name="adj" fmla="val 9615"/>
            </a:avLst>
          </a:prstGeom>
          <a:solidFill>
            <a:srgbClr val="14284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8" name="Text 16"/>
          <p:cNvSpPr/>
          <p:nvPr/>
        </p:nvSpPr>
        <p:spPr>
          <a:xfrm>
            <a:off x="7531100" y="1916435"/>
            <a:ext cx="1701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31100" y="2129792"/>
            <a:ext cx="170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weak topics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385300" y="1951992"/>
            <a:ext cx="33528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753600" y="1626877"/>
            <a:ext cx="1828800" cy="1041400"/>
          </a:xfrm>
          <a:prstGeom prst="roundRect">
            <a:avLst>
              <a:gd name="adj" fmla="val 7317"/>
            </a:avLst>
          </a:prstGeom>
          <a:solidFill>
            <a:srgbClr val="14284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2" name="Text 20"/>
          <p:cNvSpPr/>
          <p:nvPr/>
        </p:nvSpPr>
        <p:spPr>
          <a:xfrm>
            <a:off x="9817100" y="1791977"/>
            <a:ext cx="1701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817100" y="2005335"/>
            <a:ext cx="170180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recommendations</a:t>
            </a:r>
            <a:endParaRPr lang="en-US" sz="1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760" y="2805437"/>
          <a:ext cx="10962640" cy="1905000"/>
        </p:xfrm>
        <a:graphic>
          <a:graphicData uri="http://schemas.openxmlformats.org/drawingml/2006/table">
            <a:tbl>
              <a:tblPr/>
              <a:tblGrid>
                <a:gridCol w="5481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1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69850" marB="698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Implemented 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69850" marB="69850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 scores, statuses and dates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69850" marB="698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 constraints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69850" marB="698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Sequential attempt numbers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69850" marB="698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record_attempt() function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69850" marB="698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Proficiency updates after every scored attempt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69850" marB="698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Trigger on learning_record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69850" marB="698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Weak topics get recommendations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69850" marB="698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generate_recommendations() function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69850" marB="698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609600" y="6365242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Learning Platform · Phase 2 · 20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8 · Business logic implementation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746758"/>
            <a:ext cx="11301984" cy="40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i="0" dirty="0">
                <a:solidFill>
                  <a:srgbClr val="14284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Validation Rules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50950"/>
            <a:ext cx="6101556" cy="365760"/>
          </a:xfrm>
          <a:custGeom>
            <a:avLst/>
            <a:gdLst/>
            <a:ahLst/>
            <a:cxnLst/>
            <a:rect l="l" t="t" r="r" b="b"/>
            <a:pathLst>
              <a:path w="6101556" h="365760">
                <a:moveTo>
                  <a:pt x="76200" y="0"/>
                </a:moveTo>
                <a:lnTo>
                  <a:pt x="6025356" y="0"/>
                </a:lnTo>
                <a:arcTo wR="76200" hR="76200" stAng="16200000" swAng="5400000"/>
                <a:lnTo>
                  <a:pt x="6101556" y="365760"/>
                </a:lnTo>
                <a:lnTo>
                  <a:pt x="0" y="365760"/>
                </a:lnTo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14284B"/>
          </a:solidFill>
          <a:ln/>
        </p:spPr>
        <p:txBody>
          <a:bodyPr wrap="square" lIns="139700" tIns="63500" rIns="139700" bIns="63500" rtlCol="0" anchor="ctr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ALTER TABLE · CHECK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600" y="1616708"/>
            <a:ext cx="6101556" cy="4018280"/>
          </a:xfrm>
          <a:custGeom>
            <a:avLst/>
            <a:gdLst/>
            <a:ahLst/>
            <a:cxnLst/>
            <a:rect l="l" t="t" r="r" b="b"/>
            <a:pathLst>
              <a:path w="6101556" h="4018280">
                <a:moveTo>
                  <a:pt x="0" y="0"/>
                </a:moveTo>
                <a:lnTo>
                  <a:pt x="6101556" y="0"/>
                </a:lnTo>
                <a:lnTo>
                  <a:pt x="6101556" y="3942080"/>
                </a:lnTo>
                <a:arcTo wR="76200" hR="76200" stAng="0" swAng="5400000"/>
                <a:lnTo>
                  <a:pt x="76200" y="4018280"/>
                </a:lnTo>
                <a:arcTo wR="76200" hR="76200" stAng="5400000" swAng="5400000"/>
                <a:lnTo>
                  <a:pt x="0" y="0"/>
                </a:lnTo>
                <a:close/>
              </a:path>
            </a:pathLst>
          </a:custGeom>
          <a:solidFill>
            <a:srgbClr val="0F1B33"/>
          </a:solidFill>
          <a:ln/>
        </p:spPr>
        <p:txBody>
          <a:bodyPr wrap="square" lIns="139700" tIns="127000" rIns="0" bIns="101600" rtlCol="0" anchor="t">
            <a:no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ALTER TABLE learning_record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ADD CONSTRAINT chk_score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CHECK (score BETWEEN 0 AND 100),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ADD CONSTRAINT chk_status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CHECK (status IN ('in_progress',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                  'submitted','completed')),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ADD CONSTRAINT chk_dates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CHECK (completed_at IS NULL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       OR completed_at &gt;= started_at);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ALTER TABLE users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ADD CONSTRAINT chk_skill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CHECK (skill_level IN ('Beginner',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              'Intermediate','Advanced'));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ALTER TABLE recommendation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ADD CONSTRAINT chk_rec_status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CHECK (status IN ('active',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                  'completed','dismissed'));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987000" y="1250950"/>
            <a:ext cx="4728583" cy="1362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must lie between 0 and 100.</a:t>
            </a:r>
            <a:endParaRPr lang="en-US" sz="1300" dirty="0"/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attempt cannot finish before it starts.</a:t>
            </a:r>
            <a:endParaRPr lang="en-US" sz="1300" dirty="0"/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values come from a fixed list.</a:t>
            </a:r>
            <a:endParaRPr lang="en-US" sz="1300" dirty="0"/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levels match the three student levels.</a:t>
            </a:r>
            <a:endParaRPr lang="en-US" sz="1300" dirty="0"/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 data is rejected by the database, not only by the front end.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9600" y="6365242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Learning Platform · Phase 2 · 21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8 · Business logic implementation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746758"/>
            <a:ext cx="11301984" cy="40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i="0" dirty="0">
                <a:solidFill>
                  <a:srgbClr val="14284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Recording an Attempt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50950"/>
            <a:ext cx="6477000" cy="365760"/>
          </a:xfrm>
          <a:custGeom>
            <a:avLst/>
            <a:gdLst/>
            <a:ahLst/>
            <a:cxnLst/>
            <a:rect l="l" t="t" r="r" b="b"/>
            <a:pathLst>
              <a:path w="6477000" h="365760">
                <a:moveTo>
                  <a:pt x="76200" y="0"/>
                </a:moveTo>
                <a:lnTo>
                  <a:pt x="6400800" y="0"/>
                </a:lnTo>
                <a:arcTo wR="76200" hR="76200" stAng="16200000" swAng="5400000"/>
                <a:lnTo>
                  <a:pt x="6477000" y="365760"/>
                </a:lnTo>
                <a:lnTo>
                  <a:pt x="0" y="365760"/>
                </a:lnTo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14284B"/>
          </a:solidFill>
          <a:ln/>
        </p:spPr>
        <p:txBody>
          <a:bodyPr wrap="square" lIns="139700" tIns="63500" rIns="139700" bIns="63500" rtlCol="0" anchor="ctr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record_attempt()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600" y="1616708"/>
            <a:ext cx="6477000" cy="3622040"/>
          </a:xfrm>
          <a:custGeom>
            <a:avLst/>
            <a:gdLst/>
            <a:ahLst/>
            <a:cxnLst/>
            <a:rect l="l" t="t" r="r" b="b"/>
            <a:pathLst>
              <a:path w="6477000" h="3622040">
                <a:moveTo>
                  <a:pt x="0" y="0"/>
                </a:moveTo>
                <a:lnTo>
                  <a:pt x="6477000" y="0"/>
                </a:lnTo>
                <a:lnTo>
                  <a:pt x="6477000" y="3545840"/>
                </a:lnTo>
                <a:arcTo wR="76200" hR="76200" stAng="0" swAng="5400000"/>
                <a:lnTo>
                  <a:pt x="76200" y="3622040"/>
                </a:lnTo>
                <a:arcTo wR="76200" hR="76200" stAng="5400000" swAng="5400000"/>
                <a:lnTo>
                  <a:pt x="0" y="0"/>
                </a:lnTo>
                <a:close/>
              </a:path>
            </a:pathLst>
          </a:custGeom>
          <a:solidFill>
            <a:srgbClr val="0F1B33"/>
          </a:solidFill>
          <a:ln/>
        </p:spPr>
        <p:txBody>
          <a:bodyPr wrap="square" lIns="139700" tIns="127000" rIns="0" bIns="101600" rtlCol="0" anchor="t">
            <a:no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CREATE FUNCTION record_attempt(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p_user INT, p_item INT, p_status VARCHAR,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p_score NUMERIC, p_started TIMESTAMP)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RETURNS VOID AS $$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DECLARE v_no SMALLINT;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BEGIN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SELECT COALESCE(MAX(attempt_no), 0) + 1 INTO v_no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FROM learning_record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WHERE user_id = p_user AND item_id = p_item;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INSERT INTO learning_record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(user_id, item_id, attempt_no, status,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 score, started_at, completed_at)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VALUES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(p_user, p_item, v_no, p_status,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 p_score, p_started, NOW());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END; $$ LANGUAGE plpgsql;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62444" y="1250950"/>
            <a:ext cx="4341876" cy="1362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attempt number is calculated, never typed by the user.</a:t>
            </a:r>
            <a:endParaRPr lang="en-US" sz="1300" dirty="0"/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front end calls one function for quiz attempts and project submissions.</a:t>
            </a:r>
            <a:endParaRPr lang="en-US" sz="1300" dirty="0"/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 from the previous slide still validate every row.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9600" y="6365242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Learning Platform · Phase 2 · 22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8 · Business logic implementation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746758"/>
            <a:ext cx="11301984" cy="40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i="0" dirty="0">
                <a:solidFill>
                  <a:srgbClr val="14284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Grading a Quiz Attempt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50950"/>
            <a:ext cx="6115844" cy="365760"/>
          </a:xfrm>
          <a:custGeom>
            <a:avLst/>
            <a:gdLst/>
            <a:ahLst/>
            <a:cxnLst/>
            <a:rect l="l" t="t" r="r" b="b"/>
            <a:pathLst>
              <a:path w="6115844" h="365760">
                <a:moveTo>
                  <a:pt x="76200" y="0"/>
                </a:moveTo>
                <a:lnTo>
                  <a:pt x="6039644" y="0"/>
                </a:lnTo>
                <a:arcTo wR="76200" hR="76200" stAng="16200000" swAng="5400000"/>
                <a:lnTo>
                  <a:pt x="6115844" y="365760"/>
                </a:lnTo>
                <a:lnTo>
                  <a:pt x="0" y="365760"/>
                </a:lnTo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14284B"/>
          </a:solidFill>
          <a:ln/>
        </p:spPr>
        <p:txBody>
          <a:bodyPr wrap="square" lIns="139700" tIns="63500" rIns="139700" bIns="63500" rtlCol="0" anchor="ctr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grade_quiz()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600" y="1616708"/>
            <a:ext cx="6115844" cy="2433320"/>
          </a:xfrm>
          <a:custGeom>
            <a:avLst/>
            <a:gdLst/>
            <a:ahLst/>
            <a:cxnLst/>
            <a:rect l="l" t="t" r="r" b="b"/>
            <a:pathLst>
              <a:path w="6115844" h="2433320">
                <a:moveTo>
                  <a:pt x="0" y="0"/>
                </a:moveTo>
                <a:lnTo>
                  <a:pt x="6115844" y="0"/>
                </a:lnTo>
                <a:lnTo>
                  <a:pt x="6115844" y="2357120"/>
                </a:lnTo>
                <a:arcTo wR="76200" hR="76200" stAng="0" swAng="5400000"/>
                <a:lnTo>
                  <a:pt x="76200" y="2433320"/>
                </a:lnTo>
                <a:arcTo wR="76200" hR="76200" stAng="5400000" swAng="5400000"/>
                <a:lnTo>
                  <a:pt x="0" y="0"/>
                </a:lnTo>
                <a:close/>
              </a:path>
            </a:pathLst>
          </a:custGeom>
          <a:solidFill>
            <a:srgbClr val="0F1B33"/>
          </a:solidFill>
          <a:ln/>
        </p:spPr>
        <p:txBody>
          <a:bodyPr wrap="square" lIns="139700" tIns="127000" rIns="0" bIns="101600" rtlCol="0" anchor="t">
            <a:no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CREATE FUNCTION grade_quiz(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p_quiz INT, p_answers JSONB)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RETURNS NUMERIC AS $$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SELECT ROUND(100.0 * COALESCE(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  SUM(q.marks) FILTER (</a:t>
            </a:r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       WHERE</a:t>
            </a:r>
            <a:r>
              <a:rPr lang="en-US" sz="1050" dirty="0"/>
              <a:t> </a:t>
            </a: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LOWER(p_answers -&gt;&gt; q.question_no::TEXT)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    = LOWER(q.correct_answer)), 0)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/ SUM(q.marks), 2)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FROM question q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WHERE q.quiz_id = p_quiz;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$$ LANGUAGE sql;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77844" y="1250950"/>
            <a:ext cx="4704556" cy="365760"/>
          </a:xfrm>
          <a:custGeom>
            <a:avLst/>
            <a:gdLst/>
            <a:ahLst/>
            <a:cxnLst/>
            <a:rect l="l" t="t" r="r" b="b"/>
            <a:pathLst>
              <a:path w="4704556" h="365760">
                <a:moveTo>
                  <a:pt x="76200" y="0"/>
                </a:moveTo>
                <a:lnTo>
                  <a:pt x="4628356" y="0"/>
                </a:lnTo>
                <a:arcTo wR="76200" hR="76200" stAng="16200000" swAng="5400000"/>
                <a:lnTo>
                  <a:pt x="4704556" y="365760"/>
                </a:lnTo>
                <a:lnTo>
                  <a:pt x="0" y="365760"/>
                </a:lnTo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14284B"/>
          </a:solidFill>
          <a:ln/>
        </p:spPr>
        <p:txBody>
          <a:bodyPr wrap="square" lIns="139700" tIns="63500" rIns="139700" bIns="63500" rtlCol="0" anchor="ctr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Pass or fail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77844" y="1616708"/>
            <a:ext cx="4704556" cy="1046480"/>
          </a:xfrm>
          <a:custGeom>
            <a:avLst/>
            <a:gdLst/>
            <a:ahLst/>
            <a:cxnLst/>
            <a:rect l="l" t="t" r="r" b="b"/>
            <a:pathLst>
              <a:path w="4704556" h="1046480">
                <a:moveTo>
                  <a:pt x="0" y="0"/>
                </a:moveTo>
                <a:lnTo>
                  <a:pt x="4704556" y="0"/>
                </a:lnTo>
                <a:lnTo>
                  <a:pt x="4704556" y="970280"/>
                </a:lnTo>
                <a:arcTo wR="76200" hR="76200" stAng="0" swAng="5400000"/>
                <a:lnTo>
                  <a:pt x="76200" y="1046480"/>
                </a:lnTo>
                <a:arcTo wR="76200" hR="76200" stAng="5400000" swAng="5400000"/>
                <a:lnTo>
                  <a:pt x="0" y="0"/>
                </a:lnTo>
                <a:close/>
              </a:path>
            </a:pathLst>
          </a:custGeom>
          <a:solidFill>
            <a:srgbClr val="0F1B33"/>
          </a:solidFill>
          <a:ln/>
        </p:spPr>
        <p:txBody>
          <a:bodyPr wrap="square" lIns="139700" tIns="127000" rIns="6945" bIns="10160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SELECT grade_quiz(1,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'{"1": "0", "2": "Traversal"}')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&gt;= pass_mark AS passed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FROM quiz WHERE item_id = 1;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989350" y="3432808"/>
            <a:ext cx="4726567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42494" indent="-142494" algn="l">
              <a:lnSpc>
                <a:spcPts val="1620"/>
              </a:lnSpc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= marks earned ÷ total marks × 100.</a:t>
            </a:r>
            <a:endParaRPr lang="en-US" sz="1200" dirty="0"/>
          </a:p>
          <a:p>
            <a:pPr marL="142494" indent="-142494" algn="l">
              <a:lnSpc>
                <a:spcPts val="1620"/>
              </a:lnSpc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 is passed to record_attempt() as the score.</a:t>
            </a:r>
            <a:endParaRPr lang="en-US" sz="1200" dirty="0"/>
          </a:p>
          <a:p>
            <a:pPr marL="142494" indent="-142494" algn="l">
              <a:lnSpc>
                <a:spcPts val="1620"/>
              </a:lnSpc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pass_mark decides pass or fail.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600" y="6365242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Learning Platform · Phase 2 · 23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365242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Learning Platform · Phase 2 · 24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600" y="406400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8 · Business logic implementation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609600" y="749300"/>
            <a:ext cx="11301984" cy="40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i="0" dirty="0">
                <a:solidFill>
                  <a:srgbClr val="14284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Updating Topic Proficiency Automatically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9600" y="1250950"/>
            <a:ext cx="6492240" cy="365760"/>
          </a:xfrm>
          <a:custGeom>
            <a:avLst/>
            <a:gdLst/>
            <a:ahLst/>
            <a:cxnLst/>
            <a:rect l="l" t="t" r="r" b="b"/>
            <a:pathLst>
              <a:path w="6492240" h="365760">
                <a:moveTo>
                  <a:pt x="76200" y="0"/>
                </a:moveTo>
                <a:lnTo>
                  <a:pt x="6416040" y="0"/>
                </a:lnTo>
                <a:arcTo wR="76200" hR="76200" stAng="16200000" swAng="5400000"/>
                <a:lnTo>
                  <a:pt x="6492240" y="365760"/>
                </a:lnTo>
                <a:lnTo>
                  <a:pt x="0" y="365760"/>
                </a:lnTo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14284B"/>
          </a:solidFill>
          <a:ln/>
        </p:spPr>
        <p:txBody>
          <a:bodyPr wrap="square" lIns="139700" tIns="63500" rIns="139700" bIns="63500" rtlCol="0" anchor="ctr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fn_update_proficiency()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600" y="1616708"/>
            <a:ext cx="6492240" cy="3622040"/>
          </a:xfrm>
          <a:custGeom>
            <a:avLst/>
            <a:gdLst/>
            <a:ahLst/>
            <a:cxnLst/>
            <a:rect l="l" t="t" r="r" b="b"/>
            <a:pathLst>
              <a:path w="6492240" h="3622040">
                <a:moveTo>
                  <a:pt x="0" y="0"/>
                </a:moveTo>
                <a:lnTo>
                  <a:pt x="6492240" y="0"/>
                </a:lnTo>
                <a:lnTo>
                  <a:pt x="6492240" y="3545840"/>
                </a:lnTo>
                <a:arcTo wR="76200" hR="76200" stAng="0" swAng="5400000"/>
                <a:lnTo>
                  <a:pt x="76200" y="3622040"/>
                </a:lnTo>
                <a:arcTo wR="76200" hR="76200" stAng="5400000" swAng="5400000"/>
                <a:lnTo>
                  <a:pt x="0" y="0"/>
                </a:lnTo>
                <a:close/>
              </a:path>
            </a:pathLst>
          </a:custGeom>
          <a:solidFill>
            <a:srgbClr val="0F1B33"/>
          </a:solidFill>
          <a:ln/>
        </p:spPr>
        <p:txBody>
          <a:bodyPr wrap="square" lIns="139700" tIns="127000" rIns="0" bIns="101600" rtlCol="0" anchor="t">
            <a:no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CREATE FUNCTION fn_update_proficiency()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RETURNS TRIGGER AS $$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DECLARE v_topic INT;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BEGIN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SELECT topic_id INTO v_topic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FROM learning_item WHERE item_id = NEW.item_id;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INSERT INTO topic_proficiency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(user_id, topic_id, proficiency_score,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 attempts_count, last_updated)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VALUES (NEW.user_id, v_topic, NEW.score, 1, NOW())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ON CONFLICT (user_id, topic_id) DO UPDATE SET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proficiency_score = EXCLUDED.proficiency_score,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attempts_count = topic_proficiency.attempts_count + 1,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last_updated = NOW();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RETURN NEW;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END; $$ LANGUAGE plpgsql;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254240" y="1250950"/>
            <a:ext cx="4328160" cy="365760"/>
          </a:xfrm>
          <a:custGeom>
            <a:avLst/>
            <a:gdLst/>
            <a:ahLst/>
            <a:cxnLst/>
            <a:rect l="l" t="t" r="r" b="b"/>
            <a:pathLst>
              <a:path w="4328160" h="365760">
                <a:moveTo>
                  <a:pt x="76200" y="0"/>
                </a:moveTo>
                <a:lnTo>
                  <a:pt x="4251960" y="0"/>
                </a:lnTo>
                <a:arcTo wR="76200" hR="76200" stAng="16200000" swAng="5400000"/>
                <a:lnTo>
                  <a:pt x="4328160" y="365760"/>
                </a:lnTo>
                <a:lnTo>
                  <a:pt x="0" y="365760"/>
                </a:lnTo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14284B"/>
          </a:solidFill>
          <a:ln/>
        </p:spPr>
        <p:txBody>
          <a:bodyPr wrap="square" lIns="139700" tIns="63500" rIns="139700" bIns="63500" rtlCol="0" anchor="ctr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Trigger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254240" y="1616708"/>
            <a:ext cx="4328160" cy="1244600"/>
          </a:xfrm>
          <a:custGeom>
            <a:avLst/>
            <a:gdLst/>
            <a:ahLst/>
            <a:cxnLst/>
            <a:rect l="l" t="t" r="r" b="b"/>
            <a:pathLst>
              <a:path w="4328160" h="1244600">
                <a:moveTo>
                  <a:pt x="0" y="0"/>
                </a:moveTo>
                <a:lnTo>
                  <a:pt x="4328160" y="0"/>
                </a:lnTo>
                <a:lnTo>
                  <a:pt x="4328160" y="1168400"/>
                </a:lnTo>
                <a:arcTo wR="76200" hR="76200" stAng="0" swAng="5400000"/>
                <a:lnTo>
                  <a:pt x="76200" y="1244600"/>
                </a:lnTo>
                <a:arcTo wR="76200" hR="76200" stAng="5400000" swAng="5400000"/>
                <a:lnTo>
                  <a:pt x="0" y="0"/>
                </a:lnTo>
                <a:close/>
              </a:path>
            </a:pathLst>
          </a:custGeom>
          <a:solidFill>
            <a:srgbClr val="0F1B33"/>
          </a:solidFill>
          <a:ln/>
        </p:spPr>
        <p:txBody>
          <a:bodyPr wrap="square" lIns="139700" tIns="127000" rIns="18237" bIns="10160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CREATE TRIGGER trg_update_proficiency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AFTER INSERT ON learning_record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FOR EACH ROW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WHEN (NEW.score IS NOT NULL)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EXECUTE FUNCTION fn_update_proficiency();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110" y="5449888"/>
            <a:ext cx="0" cy="400050"/>
          </a:xfrm>
          <a:prstGeom prst="line">
            <a:avLst/>
          </a:prstGeom>
          <a:noFill/>
          <a:ln w="38100">
            <a:solidFill>
              <a:srgbClr val="C9962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769620" y="5449888"/>
            <a:ext cx="6475095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Rule:</a:t>
            </a:r>
            <a:r>
              <a:rPr lang="en-US" sz="1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proficiency is the latest attempt score for the topic, and attempts_count increases by 1 each time.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8 · Business logic implementation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746758"/>
            <a:ext cx="11301984" cy="40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i="0" dirty="0">
                <a:solidFill>
                  <a:srgbClr val="14284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Identifying Strong and Weak Topics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50950"/>
            <a:ext cx="6297057" cy="365760"/>
          </a:xfrm>
          <a:custGeom>
            <a:avLst/>
            <a:gdLst/>
            <a:ahLst/>
            <a:cxnLst/>
            <a:rect l="l" t="t" r="r" b="b"/>
            <a:pathLst>
              <a:path w="6297057" h="365760">
                <a:moveTo>
                  <a:pt x="76200" y="0"/>
                </a:moveTo>
                <a:lnTo>
                  <a:pt x="6220857" y="0"/>
                </a:lnTo>
                <a:arcTo wR="76200" hR="76200" stAng="16200000" swAng="5400000"/>
                <a:lnTo>
                  <a:pt x="6297057" y="365760"/>
                </a:lnTo>
                <a:lnTo>
                  <a:pt x="0" y="365760"/>
                </a:lnTo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14284B"/>
          </a:solidFill>
          <a:ln/>
        </p:spPr>
        <p:txBody>
          <a:bodyPr wrap="square" lIns="139700" tIns="63500" rIns="139700" bIns="63500" rtlCol="0" anchor="ctr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v_topic_strength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600" y="1616708"/>
            <a:ext cx="6297057" cy="2235200"/>
          </a:xfrm>
          <a:custGeom>
            <a:avLst/>
            <a:gdLst/>
            <a:ahLst/>
            <a:cxnLst/>
            <a:rect l="l" t="t" r="r" b="b"/>
            <a:pathLst>
              <a:path w="6297057" h="2235200">
                <a:moveTo>
                  <a:pt x="0" y="0"/>
                </a:moveTo>
                <a:lnTo>
                  <a:pt x="6297057" y="0"/>
                </a:lnTo>
                <a:lnTo>
                  <a:pt x="6297057" y="2159000"/>
                </a:lnTo>
                <a:arcTo wR="76200" hR="76200" stAng="0" swAng="5400000"/>
                <a:lnTo>
                  <a:pt x="76200" y="2235200"/>
                </a:lnTo>
                <a:arcTo wR="76200" hR="76200" stAng="5400000" swAng="5400000"/>
                <a:lnTo>
                  <a:pt x="0" y="0"/>
                </a:lnTo>
                <a:close/>
              </a:path>
            </a:pathLst>
          </a:custGeom>
          <a:solidFill>
            <a:srgbClr val="0F1B33"/>
          </a:solidFill>
          <a:ln/>
        </p:spPr>
        <p:txBody>
          <a:bodyPr wrap="square" lIns="139700" tIns="127000" rIns="0" bIns="101600" rtlCol="0" anchor="t">
            <a:no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CREATE VIEW v_topic_strength AS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SELECT tp.user_id, t.name AS topic,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tp.proficiency_score,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CASE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WHEN tp.proficiency_score &gt;= 80 THEN 'Strong'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WHEN tp.proficiency_score &gt;= 70 THEN 'Average'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ELSE 'Weak'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END AS strength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FROM topic_proficiency tp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JOIN topic t ON t.topic_id = tp.topic_id;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94617" y="1261110"/>
          <a:ext cx="4487784" cy="1902460"/>
        </p:xfrm>
        <a:graphic>
          <a:graphicData uri="http://schemas.openxmlformats.org/drawingml/2006/table">
            <a:tbl>
              <a:tblPr/>
              <a:tblGrid>
                <a:gridCol w="11219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19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19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19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78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user_id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Strength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8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Arrays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85.00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8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 Queries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55.00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Weak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8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Arrays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82.00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118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Database Systems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90.00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084457" y="3239777"/>
            <a:ext cx="463288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output for the Part 6 sample data.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8650" y="3978908"/>
            <a:ext cx="0" cy="214630"/>
          </a:xfrm>
          <a:prstGeom prst="line">
            <a:avLst/>
          </a:prstGeom>
          <a:noFill/>
          <a:ln w="38100">
            <a:solidFill>
              <a:srgbClr val="C9962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 6"/>
          <p:cNvSpPr/>
          <p:nvPr/>
        </p:nvSpPr>
        <p:spPr>
          <a:xfrm>
            <a:off x="772160" y="3978908"/>
            <a:ext cx="11134547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(below 70) matches the threshold used by generate_recommendations().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09600" y="6365242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Learning Platform · Phase 2 · 25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8 · Business logic implementation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746758"/>
            <a:ext cx="11301984" cy="40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i="0" dirty="0">
                <a:solidFill>
                  <a:srgbClr val="14284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Generating Recommendations for Weak Topics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50950"/>
            <a:ext cx="6643053" cy="365760"/>
          </a:xfrm>
          <a:custGeom>
            <a:avLst/>
            <a:gdLst/>
            <a:ahLst/>
            <a:cxnLst/>
            <a:rect l="l" t="t" r="r" b="b"/>
            <a:pathLst>
              <a:path w="6643053" h="365760">
                <a:moveTo>
                  <a:pt x="76200" y="0"/>
                </a:moveTo>
                <a:lnTo>
                  <a:pt x="6566853" y="0"/>
                </a:lnTo>
                <a:arcTo wR="76200" hR="76200" stAng="16200000" swAng="5400000"/>
                <a:lnTo>
                  <a:pt x="6643053" y="365760"/>
                </a:lnTo>
                <a:lnTo>
                  <a:pt x="0" y="365760"/>
                </a:lnTo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14284B"/>
          </a:solidFill>
          <a:ln/>
        </p:spPr>
        <p:txBody>
          <a:bodyPr wrap="square" lIns="139700" tIns="63500" rIns="139700" bIns="63500" rtlCol="0" anchor="ctr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generate_recommendations()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600" y="1616708"/>
            <a:ext cx="6643053" cy="3423920"/>
          </a:xfrm>
          <a:custGeom>
            <a:avLst/>
            <a:gdLst/>
            <a:ahLst/>
            <a:cxnLst/>
            <a:rect l="l" t="t" r="r" b="b"/>
            <a:pathLst>
              <a:path w="6643053" h="3423920">
                <a:moveTo>
                  <a:pt x="0" y="0"/>
                </a:moveTo>
                <a:lnTo>
                  <a:pt x="6643053" y="0"/>
                </a:lnTo>
                <a:lnTo>
                  <a:pt x="6643053" y="3347720"/>
                </a:lnTo>
                <a:arcTo wR="76200" hR="76200" stAng="0" swAng="5400000"/>
                <a:lnTo>
                  <a:pt x="76200" y="3423920"/>
                </a:lnTo>
                <a:arcTo wR="76200" hR="76200" stAng="5400000" swAng="5400000"/>
                <a:lnTo>
                  <a:pt x="0" y="0"/>
                </a:lnTo>
                <a:close/>
              </a:path>
            </a:pathLst>
          </a:custGeom>
          <a:solidFill>
            <a:srgbClr val="0F1B33"/>
          </a:solidFill>
          <a:ln/>
        </p:spPr>
        <p:txBody>
          <a:bodyPr wrap="square" lIns="139700" tIns="127000" rIns="0" bIns="101600" rtlCol="0" anchor="t">
            <a:no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CREATE FUNCTION generate_recommendations(p_user INT)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RETURNS VOID AS $$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INSERT INTO recommendation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(user_id, item_id, rank_score,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 reason, status, created_at)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SELECT tp.user_id, li.item_id,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     ROUND((100 - tp.proficiency_score) / 100, 4),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     'Low proficiency in ' || t.name,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     'active', NOW()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FROM topic_proficiency tp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JOIN topic t ON t.topic_id = tp.topic_id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JOIN learning_item li ON li.topic_id = tp.topic_id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WHERE tp.user_id = p_user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AND tp.proficiency_score &lt; 70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ON CONFLICT (user_id, item_id) DO NOTHING;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$$ LANGUAGE sql;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528497" y="1250950"/>
            <a:ext cx="4170842" cy="1362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topic is weak when proficiency is below 70.</a:t>
            </a:r>
            <a:endParaRPr lang="en-US" sz="1300" dirty="0"/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proficiency gives a higher rank score.</a:t>
            </a:r>
            <a:endParaRPr lang="en-US" sz="1300" dirty="0"/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 already recommended to the student are skipped.</a:t>
            </a:r>
            <a:endParaRPr lang="en-US" sz="1300" dirty="0"/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rule-based method; Qdrant similarity search can refine it later.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9600" y="6365242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Learning Platform · Phase 2 · 26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8 · Business logic implementation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746758"/>
            <a:ext cx="11301984" cy="40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i="0" dirty="0">
                <a:solidFill>
                  <a:srgbClr val="14284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Leaderboard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50950"/>
            <a:ext cx="6297057" cy="365760"/>
          </a:xfrm>
          <a:custGeom>
            <a:avLst/>
            <a:gdLst/>
            <a:ahLst/>
            <a:cxnLst/>
            <a:rect l="l" t="t" r="r" b="b"/>
            <a:pathLst>
              <a:path w="6297057" h="365760">
                <a:moveTo>
                  <a:pt x="76200" y="0"/>
                </a:moveTo>
                <a:lnTo>
                  <a:pt x="6220857" y="0"/>
                </a:lnTo>
                <a:arcTo wR="76200" hR="76200" stAng="16200000" swAng="5400000"/>
                <a:lnTo>
                  <a:pt x="6297057" y="365760"/>
                </a:lnTo>
                <a:lnTo>
                  <a:pt x="0" y="365760"/>
                </a:lnTo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14284B"/>
          </a:solidFill>
          <a:ln/>
        </p:spPr>
        <p:txBody>
          <a:bodyPr wrap="square" lIns="139700" tIns="63500" rIns="139700" bIns="63500" rtlCol="0" anchor="ctr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v_leaderboard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600" y="1616708"/>
            <a:ext cx="6297057" cy="2829560"/>
          </a:xfrm>
          <a:custGeom>
            <a:avLst/>
            <a:gdLst/>
            <a:ahLst/>
            <a:cxnLst/>
            <a:rect l="l" t="t" r="r" b="b"/>
            <a:pathLst>
              <a:path w="6297057" h="2829560">
                <a:moveTo>
                  <a:pt x="0" y="0"/>
                </a:moveTo>
                <a:lnTo>
                  <a:pt x="6297057" y="0"/>
                </a:lnTo>
                <a:lnTo>
                  <a:pt x="6297057" y="2753360"/>
                </a:lnTo>
                <a:arcTo wR="76200" hR="76200" stAng="0" swAng="5400000"/>
                <a:lnTo>
                  <a:pt x="76200" y="2829560"/>
                </a:lnTo>
                <a:arcTo wR="76200" hR="76200" stAng="5400000" swAng="5400000"/>
                <a:lnTo>
                  <a:pt x="0" y="0"/>
                </a:lnTo>
                <a:close/>
              </a:path>
            </a:pathLst>
          </a:custGeom>
          <a:solidFill>
            <a:srgbClr val="0F1B33"/>
          </a:solidFill>
          <a:ln/>
        </p:spPr>
        <p:txBody>
          <a:bodyPr wrap="square" lIns="139700" tIns="127000" rIns="0" bIns="101600" rtlCol="0" anchor="t">
            <a:no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CREATE VIEW v_leaderboard AS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SELECT u.user_id, u.full_name,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SUM(b.best_score) AS total_score,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RANK() OVER (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ORDER BY SUM(b.best_score) DESC) AS rank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FROM users u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JOIN (SELECT user_id, item_id,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         MAX(score) AS best_score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  FROM learning_record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  WHERE status IN ('completed', 'submitted')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  GROUP BY user_id, item_id) b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ON b.user_id = u.user_id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GROUP BY u.user_id, u.full_name;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94617" y="1261110"/>
          <a:ext cx="4487784" cy="1351280"/>
        </p:xfrm>
        <a:graphic>
          <a:graphicData uri="http://schemas.openxmlformats.org/drawingml/2006/table">
            <a:tbl>
              <a:tblPr/>
              <a:tblGrid>
                <a:gridCol w="1495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5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5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78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8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Riya Sharma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140.00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8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Maya Iyer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90.00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8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Arjun Mehta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82.00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084457" y="2688592"/>
            <a:ext cx="463288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output for the sample data. Only each student's best score per item counts.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8650" y="4573277"/>
            <a:ext cx="0" cy="214630"/>
          </a:xfrm>
          <a:prstGeom prst="line">
            <a:avLst/>
          </a:prstGeom>
          <a:noFill/>
          <a:ln w="38100">
            <a:solidFill>
              <a:srgbClr val="C9962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 6"/>
          <p:cNvSpPr/>
          <p:nvPr/>
        </p:nvSpPr>
        <p:spPr>
          <a:xfrm>
            <a:off x="772160" y="4573277"/>
            <a:ext cx="11134547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sorted sets can cache this ranking for fast reads; PostgreSQL stays the source of truth.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09600" y="6365242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Learning Platform · Phase 2 · 27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8 · Business logic implementation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746758"/>
            <a:ext cx="11301984" cy="40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i="0" dirty="0">
                <a:solidFill>
                  <a:srgbClr val="14284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Account and Administrator Rules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50950"/>
            <a:ext cx="4831636" cy="365760"/>
          </a:xfrm>
          <a:custGeom>
            <a:avLst/>
            <a:gdLst/>
            <a:ahLst/>
            <a:cxnLst/>
            <a:rect l="l" t="t" r="r" b="b"/>
            <a:pathLst>
              <a:path w="4831636" h="365760">
                <a:moveTo>
                  <a:pt x="76200" y="0"/>
                </a:moveTo>
                <a:lnTo>
                  <a:pt x="4755436" y="0"/>
                </a:lnTo>
                <a:arcTo wR="76200" hR="76200" stAng="16200000" swAng="5400000"/>
                <a:lnTo>
                  <a:pt x="4831636" y="365760"/>
                </a:lnTo>
                <a:lnTo>
                  <a:pt x="0" y="365760"/>
                </a:lnTo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14284B"/>
          </a:solidFill>
          <a:ln/>
        </p:spPr>
        <p:txBody>
          <a:bodyPr wrap="square" lIns="139700" tIns="63500" rIns="139700" bIns="63500" rtlCol="0" anchor="ctr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register_user()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600" y="1616708"/>
            <a:ext cx="4831636" cy="2235200"/>
          </a:xfrm>
          <a:custGeom>
            <a:avLst/>
            <a:gdLst/>
            <a:ahLst/>
            <a:cxnLst/>
            <a:rect l="l" t="t" r="r" b="b"/>
            <a:pathLst>
              <a:path w="4831636" h="2235200">
                <a:moveTo>
                  <a:pt x="0" y="0"/>
                </a:moveTo>
                <a:lnTo>
                  <a:pt x="4831636" y="0"/>
                </a:lnTo>
                <a:lnTo>
                  <a:pt x="4831636" y="2159000"/>
                </a:lnTo>
                <a:arcTo wR="76200" hR="76200" stAng="0" swAng="5400000"/>
                <a:lnTo>
                  <a:pt x="76200" y="2235200"/>
                </a:lnTo>
                <a:arcTo wR="76200" hR="76200" stAng="5400000" swAng="5400000"/>
                <a:lnTo>
                  <a:pt x="0" y="0"/>
                </a:lnTo>
                <a:close/>
              </a:path>
            </a:pathLst>
          </a:custGeom>
          <a:solidFill>
            <a:srgbClr val="0F1B33"/>
          </a:solidFill>
          <a:ln/>
        </p:spPr>
        <p:txBody>
          <a:bodyPr wrap="square" lIns="139700" tIns="127000" rIns="3133" bIns="101600" rtlCol="0" anchor="t">
            <a:no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CREATE FUNCTION register_user(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p_name VARCHAR, p_email VARCHAR,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p_hash VARCHAR)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RETURNS INT AS $$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INSERT INTO users (full_name, email,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password_hash, skill_level, created_at)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VALUES (p_name, p_email, p_hash,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'Beginner', NOW())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RETURNING user_id;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$$ LANGUAGE sql;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542836" y="1250950"/>
            <a:ext cx="6039564" cy="365760"/>
          </a:xfrm>
          <a:custGeom>
            <a:avLst/>
            <a:gdLst/>
            <a:ahLst/>
            <a:cxnLst/>
            <a:rect l="l" t="t" r="r" b="b"/>
            <a:pathLst>
              <a:path w="6039564" h="365760">
                <a:moveTo>
                  <a:pt x="76200" y="0"/>
                </a:moveTo>
                <a:lnTo>
                  <a:pt x="5963364" y="0"/>
                </a:lnTo>
                <a:arcTo wR="76200" hR="76200" stAng="16200000" swAng="5400000"/>
                <a:lnTo>
                  <a:pt x="6039564" y="365760"/>
                </a:lnTo>
                <a:lnTo>
                  <a:pt x="0" y="365760"/>
                </a:lnTo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14284B"/>
          </a:solidFill>
          <a:ln/>
        </p:spPr>
        <p:txBody>
          <a:bodyPr wrap="square" lIns="139700" tIns="63500" rIns="139700" bIns="63500" rtlCol="0" anchor="ctr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fn_block_topic_delete()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542836" y="1616708"/>
            <a:ext cx="6039564" cy="3027680"/>
          </a:xfrm>
          <a:custGeom>
            <a:avLst/>
            <a:gdLst/>
            <a:ahLst/>
            <a:cxnLst/>
            <a:rect l="l" t="t" r="r" b="b"/>
            <a:pathLst>
              <a:path w="6039564" h="3027680">
                <a:moveTo>
                  <a:pt x="0" y="0"/>
                </a:moveTo>
                <a:lnTo>
                  <a:pt x="6039564" y="0"/>
                </a:lnTo>
                <a:lnTo>
                  <a:pt x="6039564" y="2951480"/>
                </a:lnTo>
                <a:arcTo wR="76200" hR="76200" stAng="0" swAng="5400000"/>
                <a:lnTo>
                  <a:pt x="76200" y="3027680"/>
                </a:lnTo>
                <a:arcTo wR="76200" hR="76200" stAng="5400000" swAng="5400000"/>
                <a:lnTo>
                  <a:pt x="0" y="0"/>
                </a:lnTo>
                <a:close/>
              </a:path>
            </a:pathLst>
          </a:custGeom>
          <a:solidFill>
            <a:srgbClr val="0F1B33"/>
          </a:solidFill>
          <a:ln/>
        </p:spPr>
        <p:txBody>
          <a:bodyPr wrap="square" lIns="139700" tIns="127000" rIns="0" bIns="101600" rtlCol="0" anchor="t">
            <a:no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CREATE FUNCTION fn_block_topic_delete()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RETURNS TRIGGER AS $$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BEGIN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IF EXISTS (SELECT 1 FROM learning_item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         WHERE topic_id = OLD.topic_id) THEN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RAISE EXCEPTION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  'Topic % still has learning items', OLD.topic_id;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END IF;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RETURN OLD;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END; $$ LANGUAGE plpgsql;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CREATE TRIGGER trg_block_topic_delete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BEFORE DELETE ON topic FOR EACH ROW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EXECUTE FUNCTION fn_block_topic_delete();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21106" y="4771392"/>
            <a:ext cx="11182858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42494" indent="-142494" algn="l">
              <a:lnSpc>
                <a:spcPts val="1620"/>
              </a:lnSpc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Registration: a duplicate email is rejected by the UNIQUE constraint; the application hashes the password before calling the function; new students start as Beginner.</a:t>
            </a:r>
            <a:endParaRPr lang="en-US" sz="1200" dirty="0"/>
          </a:p>
          <a:p>
            <a:pPr marL="142494" indent="-142494" algn="l">
              <a:lnSpc>
                <a:spcPts val="1620"/>
              </a:lnSpc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Administration: a topic that still has learning items cannot be deleted, and the trigger gives a clear error message.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600" y="6365242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Learning Platform · Phase 2 · 28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8 · Business logic implementation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746758"/>
            <a:ext cx="11301984" cy="40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i="0" dirty="0">
                <a:solidFill>
                  <a:srgbClr val="14284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Redis and Qdrant: Integration Plan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09600" y="1375408"/>
            <a:ext cx="1828800" cy="792480"/>
          </a:xfrm>
          <a:prstGeom prst="roundRect">
            <a:avLst>
              <a:gd name="adj" fmla="val 9615"/>
            </a:avLst>
          </a:prstGeom>
          <a:solidFill>
            <a:srgbClr val="14284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673100" y="1540508"/>
            <a:ext cx="1701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73100" y="1753877"/>
            <a:ext cx="170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Attempt recorded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27300" y="1576077"/>
            <a:ext cx="33528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895600" y="1250950"/>
            <a:ext cx="1828800" cy="1041400"/>
          </a:xfrm>
          <a:prstGeom prst="roundRect">
            <a:avLst>
              <a:gd name="adj" fmla="val 7317"/>
            </a:avLst>
          </a:prstGeom>
          <a:solidFill>
            <a:srgbClr val="14284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2959100" y="1416050"/>
            <a:ext cx="1701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59100" y="1629408"/>
            <a:ext cx="170180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updates proficiency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13300" y="1576077"/>
            <a:ext cx="33528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181600" y="1250950"/>
            <a:ext cx="1828800" cy="1041400"/>
          </a:xfrm>
          <a:prstGeom prst="roundRect">
            <a:avLst>
              <a:gd name="adj" fmla="val 7317"/>
            </a:avLst>
          </a:prstGeom>
          <a:solidFill>
            <a:srgbClr val="14284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5245100" y="1416050"/>
            <a:ext cx="1701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45100" y="1629408"/>
            <a:ext cx="170180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Leaderboard cache refreshed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99300" y="1576077"/>
            <a:ext cx="33528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467600" y="1250950"/>
            <a:ext cx="1828800" cy="1041400"/>
          </a:xfrm>
          <a:prstGeom prst="roundRect">
            <a:avLst>
              <a:gd name="adj" fmla="val 7317"/>
            </a:avLst>
          </a:prstGeom>
          <a:solidFill>
            <a:srgbClr val="14284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7" name="Text 15"/>
          <p:cNvSpPr/>
          <p:nvPr/>
        </p:nvSpPr>
        <p:spPr>
          <a:xfrm>
            <a:off x="7531100" y="1416050"/>
            <a:ext cx="1701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31100" y="1629408"/>
            <a:ext cx="170180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vector updated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385300" y="1576077"/>
            <a:ext cx="33528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753600" y="1250950"/>
            <a:ext cx="1828800" cy="1041400"/>
          </a:xfrm>
          <a:prstGeom prst="roundRect">
            <a:avLst>
              <a:gd name="adj" fmla="val 7317"/>
            </a:avLst>
          </a:prstGeom>
          <a:solidFill>
            <a:srgbClr val="14284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1" name="Text 19"/>
          <p:cNvSpPr/>
          <p:nvPr/>
        </p:nvSpPr>
        <p:spPr>
          <a:xfrm>
            <a:off x="9817100" y="1416050"/>
            <a:ext cx="1701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817100" y="1629408"/>
            <a:ext cx="170180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served</a:t>
            </a:r>
            <a:endParaRPr lang="en-US" sz="1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760" y="2429510"/>
          <a:ext cx="10962639" cy="2092960"/>
        </p:xfrm>
        <a:graphic>
          <a:graphicData uri="http://schemas.openxmlformats.org/drawingml/2006/table">
            <a:tbl>
              <a:tblPr/>
              <a:tblGrid>
                <a:gridCol w="3654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4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4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32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69850" marB="698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69850" marB="69850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Requirements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69850" marB="69850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58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PostgreSQL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69850" marB="698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 of truth for all 10 tables, constraints, triggers and views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69850" marB="698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FR1–FR9, FR12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69850" marB="698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58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69850" marB="698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Leaderboard sorted sets and cache for frequent reads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69850" marB="698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FR10, FR11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69850" marB="698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58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Qdrant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69850" marB="698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Vectors for items and student skill profiles to find similar quizzes and projects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69850" marB="698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69850" marB="698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609600" y="6365242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Learning Platform · Phase 2 · 29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8 · Business logic implementation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746758"/>
            <a:ext cx="11301984" cy="40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i="0" dirty="0">
                <a:solidFill>
                  <a:srgbClr val="14284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Testing the Business Rules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50950"/>
            <a:ext cx="5654516" cy="365760"/>
          </a:xfrm>
          <a:custGeom>
            <a:avLst/>
            <a:gdLst/>
            <a:ahLst/>
            <a:cxnLst/>
            <a:rect l="l" t="t" r="r" b="b"/>
            <a:pathLst>
              <a:path w="5654516" h="365760">
                <a:moveTo>
                  <a:pt x="76200" y="0"/>
                </a:moveTo>
                <a:lnTo>
                  <a:pt x="5578316" y="0"/>
                </a:lnTo>
                <a:arcTo wR="76200" hR="76200" stAng="16200000" swAng="5400000"/>
                <a:lnTo>
                  <a:pt x="5654516" y="365760"/>
                </a:lnTo>
                <a:lnTo>
                  <a:pt x="0" y="365760"/>
                </a:lnTo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14284B"/>
          </a:solidFill>
          <a:ln/>
        </p:spPr>
        <p:txBody>
          <a:bodyPr wrap="square" lIns="139700" tIns="63500" rIns="139700" bIns="63500" rtlCol="0" anchor="ctr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Test statements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600" y="1616708"/>
            <a:ext cx="5654516" cy="2235200"/>
          </a:xfrm>
          <a:custGeom>
            <a:avLst/>
            <a:gdLst/>
            <a:ahLst/>
            <a:cxnLst/>
            <a:rect l="l" t="t" r="r" b="b"/>
            <a:pathLst>
              <a:path w="5654516" h="2235200">
                <a:moveTo>
                  <a:pt x="0" y="0"/>
                </a:moveTo>
                <a:lnTo>
                  <a:pt x="5654516" y="0"/>
                </a:lnTo>
                <a:lnTo>
                  <a:pt x="5654516" y="2159000"/>
                </a:lnTo>
                <a:arcTo wR="76200" hR="76200" stAng="0" swAng="5400000"/>
                <a:lnTo>
                  <a:pt x="76200" y="2235200"/>
                </a:lnTo>
                <a:arcTo wR="76200" hR="76200" stAng="5400000" swAng="5400000"/>
                <a:lnTo>
                  <a:pt x="0" y="0"/>
                </a:lnTo>
                <a:close/>
              </a:path>
            </a:pathLst>
          </a:custGeom>
          <a:solidFill>
            <a:srgbClr val="0F1B33"/>
          </a:solidFill>
          <a:ln/>
        </p:spPr>
        <p:txBody>
          <a:bodyPr wrap="square" lIns="139700" tIns="127000" rIns="0" bIns="101600" rtlCol="0" anchor="t">
            <a:no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SELECT record_attempt(1, 3, 'submitted',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                  88, LOCALTIMESTAMP);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SELECT record_attempt(1, 3, 'submitted',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                  120, LOCALTIMESTAMP);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SELECT * FROM topic_proficiency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WHERE user_id = 1;</a:t>
            </a: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endParaRPr lang="en-US" sz="10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SELECT generate_recommendations(2);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52076" y="1261110"/>
          <a:ext cx="5130324" cy="2115820"/>
        </p:xfrm>
        <a:graphic>
          <a:graphicData uri="http://schemas.openxmlformats.org/drawingml/2006/table">
            <a:tbl>
              <a:tblPr/>
              <a:tblGrid>
                <a:gridCol w="2565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5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78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Expected result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118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 attempt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Row added with attempt_no 1; proficiency updated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8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 of 120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Rejected by chk_score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118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Proficiency check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Topic score and attempt count updated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8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Recommendations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Rows for topics scoring below 70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57150" marB="571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19125" y="3988433"/>
            <a:ext cx="10953750" cy="1188720"/>
          </a:xfrm>
          <a:prstGeom prst="roundRect">
            <a:avLst>
              <a:gd name="adj" fmla="val 13926"/>
            </a:avLst>
          </a:prstGeom>
          <a:solidFill>
            <a:srgbClr val="0F1B33"/>
          </a:solidFill>
          <a:ln w="19050">
            <a:noFill/>
            <a:prstDash val="dash"/>
          </a:ln>
        </p:spPr>
        <p:txBody>
          <a:bodyPr wrap="square" lIns="113187" tIns="73152" rIns="0" bIns="73152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Arial" pitchFamily="34" charset="-122"/>
                <a:cs typeface="Arial" pitchFamily="34" charset="-120"/>
              </a:rPr>
              <a:t>record_attempt(1,3,'submitted',88)  -&gt; OK, attempt_no 1</a:t>
            </a:r>
            <a:endParaRPr lang="en-US" sz="12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Arial" pitchFamily="34" charset="-122"/>
                <a:cs typeface="Arial" pitchFamily="34" charset="-120"/>
              </a:rPr>
              <a:t>record_attempt(1,3,'submitted',120) -&gt; ERROR: violates check constraint "chk_score"</a:t>
            </a:r>
            <a:endParaRPr lang="en-US" sz="12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Arial" pitchFamily="34" charset="-122"/>
                <a:cs typeface="Arial" pitchFamily="34" charset="-120"/>
              </a:rPr>
              <a:t>topic_proficiency user 1: topic 2 = 88.00 (1 attempt)</a:t>
            </a:r>
            <a:endParaRPr lang="en-US" sz="12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Arial" pitchFamily="34" charset="-122"/>
                <a:cs typeface="Arial" pitchFamily="34" charset="-120"/>
              </a:rPr>
              <a:t>after record_attempt(2,2,'completed',45): generate_recommendations(2) -&gt; SQL Joins, 0.5500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09600" y="6365242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Learning Platform · Phase 2 · 30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400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746758"/>
            <a:ext cx="11301984" cy="40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i="0" dirty="0">
                <a:solidFill>
                  <a:srgbClr val="14284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Conclusion and Next Steps</a:t>
            </a:r>
            <a:endParaRPr lang="en-US" sz="2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3624451"/>
              </p:ext>
            </p:extLst>
          </p:nvPr>
        </p:nvGraphicFramePr>
        <p:xfrm>
          <a:off x="619760" y="1261110"/>
          <a:ext cx="10962640" cy="3589020"/>
        </p:xfrm>
        <a:graphic>
          <a:graphicData uri="http://schemas.openxmlformats.org/drawingml/2006/table">
            <a:tbl>
              <a:tblPr/>
              <a:tblGrid>
                <a:gridCol w="51681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944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2 coverage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754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Database design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PostgreSQL tables with keys and constraints, consistent with Phase 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population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Sample data for all 10 tables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754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logic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Validation, attempt recording, grading, proficiency, recommendations, leaderboard and admin rules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 end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React web app with five pages (dashboard, attempts, quizzes, learning items, topics) reading live PostgreSQL data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Initial connectivity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sz="1300">
                          <a:solidFill>
                            <a:srgbClr val="000000"/>
                          </a:solidFill>
                          <a:latin typeface="Arial"/>
                        </a:rPr>
                        <a:t>Express + pg connection pool: SELECT, INSERT, UPDATE and DELETE run from the front end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754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 step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3: complete JDBC/ODBC CRUD integration, testing and live demonstration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2550" marB="8255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09600" y="6365242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Learning Platform · Phase 2 · 31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09600" y="406400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7 · Front-End Design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746758"/>
            <a:ext cx="11301984" cy="40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i="0" dirty="0">
                <a:solidFill>
                  <a:srgbClr val="14284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Front-End Pages and Database Use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6365242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Learning Platform · Phase 2 · 18</a:t>
            </a:r>
            <a:endParaRPr lang="en-US" sz="1200" dirty="0"/>
          </a:p>
        </p:txBody>
      </p:sp>
      <p:pic>
        <p:nvPicPr>
          <p:cNvPr id="5" name="Picture 4" descr="le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" y="1234440"/>
            <a:ext cx="3566160" cy="22288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9904" y="3456432"/>
            <a:ext cx="356616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54864" bIns="54864"/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4A5563"/>
                </a:solidFill>
                <a:latin typeface="Arial"/>
              </a:rPr>
              <a:t>My Learning: attempt history</a:t>
            </a:r>
          </a:p>
        </p:txBody>
      </p:sp>
      <p:pic>
        <p:nvPicPr>
          <p:cNvPr id="7" name="Picture 6" descr="quizz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234440"/>
            <a:ext cx="3566160" cy="222885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343400" y="3456432"/>
            <a:ext cx="356616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54864" bIns="54864"/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4A5563"/>
                </a:solidFill>
                <a:latin typeface="Arial"/>
              </a:rPr>
              <a:t>Quizzes: question bank (weak entity)</a:t>
            </a:r>
          </a:p>
        </p:txBody>
      </p:sp>
      <p:pic>
        <p:nvPicPr>
          <p:cNvPr id="9" name="Picture 8" descr="item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904" y="3703320"/>
            <a:ext cx="3566160" cy="222885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09904" y="5925312"/>
            <a:ext cx="356616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54864" bIns="54864"/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4A5563"/>
                </a:solidFill>
                <a:latin typeface="Arial"/>
              </a:rPr>
              <a:t>Learning Items: quizzes and projects</a:t>
            </a:r>
          </a:p>
        </p:txBody>
      </p:sp>
      <p:pic>
        <p:nvPicPr>
          <p:cNvPr id="11" name="Picture 10" descr="topic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3703320"/>
            <a:ext cx="3566160" cy="222885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343400" y="5925312"/>
            <a:ext cx="356616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54864" bIns="54864"/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4A5563"/>
                </a:solidFill>
                <a:latin typeface="Arial"/>
              </a:rPr>
              <a:t>Topics: parent / child hierarchy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234440"/>
            <a:ext cx="3474720" cy="365760"/>
          </a:xfrm>
          <a:prstGeom prst="rect">
            <a:avLst/>
          </a:prstGeom>
          <a:solidFill>
            <a:srgbClr val="142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onsolas"/>
              </a:rPr>
              <a:t>Page → tables used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600200"/>
            <a:ext cx="3474720" cy="42976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54864" bIns="54864"/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1F2933"/>
                </a:solidFill>
                <a:latin typeface="Arial"/>
              </a:rPr>
              <a:t>Dashboard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F2933"/>
                </a:solidFill>
                <a:latin typeface="Arial"/>
              </a:rPr>
              <a:t>users, learning_record, topic_proficiency, recommendation, learning_item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F2933"/>
                </a:solidFill>
                <a:latin typeface="Arial"/>
              </a:rPr>
              <a:t>My Learning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F2933"/>
                </a:solidFill>
                <a:latin typeface="Arial"/>
              </a:rPr>
              <a:t>learning_record, learning_item, topic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F2933"/>
                </a:solidFill>
                <a:latin typeface="Arial"/>
              </a:rPr>
              <a:t>Quizzes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F2933"/>
                </a:solidFill>
                <a:latin typeface="Arial"/>
              </a:rPr>
              <a:t>quiz, question (add questions)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F2933"/>
                </a:solidFill>
                <a:latin typeface="Arial"/>
              </a:rPr>
              <a:t>Learning Items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F2933"/>
                </a:solidFill>
                <a:latin typeface="Arial"/>
              </a:rPr>
              <a:t>learning_item, quiz, project, project_tech (add / delete)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F2933"/>
                </a:solidFill>
                <a:latin typeface="Arial"/>
              </a:rPr>
              <a:t>Topics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933"/>
                </a:solidFill>
                <a:latin typeface="Arial"/>
              </a:rPr>
              <a:t>topic (add / delete, self-referencing FK)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09600" y="406400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9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9 · Database connectivity (initial)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09600" y="746758"/>
            <a:ext cx="11301984" cy="40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i="0" dirty="0">
                <a:solidFill>
                  <a:srgbClr val="14284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Front End to PostgreSQL Connection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6365242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Learning Platform · Phase 2 · 19</a:t>
            </a:r>
            <a:endParaRPr lang="en-US" sz="1200" dirty="0"/>
          </a:p>
        </p:txBody>
      </p:sp>
      <p:sp>
        <p:nvSpPr>
          <p:cNvPr id="5" name="Rounded Rectangle 4"/>
          <p:cNvSpPr/>
          <p:nvPr/>
        </p:nvSpPr>
        <p:spPr>
          <a:xfrm>
            <a:off x="609904" y="1280160"/>
            <a:ext cx="1874519" cy="822960"/>
          </a:xfrm>
          <a:prstGeom prst="roundRect">
            <a:avLst/>
          </a:prstGeom>
          <a:solidFill>
            <a:srgbClr val="142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C9962B"/>
                </a:solidFill>
                <a:latin typeface="Arial"/>
              </a:rPr>
              <a:t>STEP 1</a:t>
            </a:r>
          </a:p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React page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2484424" y="1508760"/>
            <a:ext cx="3657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54864" bIns="54864"/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C9962B"/>
                </a:solidFill>
                <a:latin typeface="Arial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50184" y="1280160"/>
            <a:ext cx="1874519" cy="822960"/>
          </a:xfrm>
          <a:prstGeom prst="roundRect">
            <a:avLst/>
          </a:prstGeom>
          <a:solidFill>
            <a:srgbClr val="142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C9962B"/>
                </a:solidFill>
                <a:latin typeface="Arial"/>
              </a:rPr>
              <a:t>STEP 2</a:t>
            </a:r>
          </a:p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HTTP /api request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4724704" y="1508760"/>
            <a:ext cx="3657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54864" bIns="54864"/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C9962B"/>
                </a:solidFill>
                <a:latin typeface="Arial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90464" y="1280160"/>
            <a:ext cx="1874519" cy="822960"/>
          </a:xfrm>
          <a:prstGeom prst="roundRect">
            <a:avLst/>
          </a:prstGeom>
          <a:solidFill>
            <a:srgbClr val="142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C9962B"/>
                </a:solidFill>
                <a:latin typeface="Arial"/>
              </a:rPr>
              <a:t>STEP 3</a:t>
            </a:r>
          </a:p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Express route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64984" y="1508760"/>
            <a:ext cx="3657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54864" bIns="54864"/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C9962B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30744" y="1280160"/>
            <a:ext cx="1874519" cy="822960"/>
          </a:xfrm>
          <a:prstGeom prst="roundRect">
            <a:avLst/>
          </a:prstGeom>
          <a:solidFill>
            <a:srgbClr val="142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C9962B"/>
                </a:solidFill>
                <a:latin typeface="Arial"/>
              </a:rPr>
              <a:t>STEP 4</a:t>
            </a:r>
          </a:p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pg connection pool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05264" y="1508760"/>
            <a:ext cx="3657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54864" bIns="54864"/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C9962B"/>
                </a:solidFill>
                <a:latin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71024" y="1280160"/>
            <a:ext cx="1874519" cy="822960"/>
          </a:xfrm>
          <a:prstGeom prst="roundRect">
            <a:avLst/>
          </a:prstGeom>
          <a:solidFill>
            <a:srgbClr val="142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C9962B"/>
                </a:solidFill>
                <a:latin typeface="Arial"/>
              </a:rPr>
              <a:t>STEP 5</a:t>
            </a:r>
          </a:p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PostgreSQL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09904" y="2377440"/>
          <a:ext cx="109728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566160"/>
                <a:gridCol w="6035040"/>
              </a:tblGrid>
              <a:tr h="44413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Operation</a:t>
                      </a:r>
                    </a:p>
                  </a:txBody>
                  <a:tcPr>
                    <a:solidFill>
                      <a:srgbClr val="E2E2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API call</a:t>
                      </a:r>
                    </a:p>
                  </a:txBody>
                  <a:tcPr>
                    <a:solidFill>
                      <a:srgbClr val="E2E2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SQL executed (parameterised)</a:t>
                      </a:r>
                    </a:p>
                  </a:txBody>
                  <a:tcPr>
                    <a:solidFill>
                      <a:srgbClr val="E2E2DC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Retrieve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GET /api/dashboard?userId=1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SELECT ... FROM learning_record / topic_proficiency / recommendation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Retrieve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GET /api/items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SELECT ... FROM learning_item LEFT JOIN quiz, project, project_tech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Insert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POST /api/items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INSERT INTO learning_item, then quiz or project + project_tech (one transaction)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Insert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POST /api/topics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INSERT INTO topic (name, description, parent_topic_id)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Update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PATCH /api/recommendations/1/2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UPDATE recommendation SET status = $3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Delete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DELETE /api/topics/3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DELETE FROM topic; FK violation returned as a 409 message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609904" y="5623560"/>
            <a:ext cx="109728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4A5563"/>
                </a:solidFill>
                <a:latin typeface="Arial"/>
              </a:rPr>
              <a:t>Test: GET /api/health returns {"status":"ok","database":"connected"}. Connection string comes from DATABASE_URL; scripts: npm run db:setup, npm run server.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hase 2 – Implementation Core">
  <a:themeElements>
    <a:clrScheme name="Phase 2 – Implementation Core">
      <a:dk1>
        <a:srgbClr val="14284B"/>
      </a:dk1>
      <a:lt1>
        <a:srgbClr val="F6F4EE"/>
      </a:lt1>
      <a:dk2>
        <a:srgbClr val="4D5B74"/>
      </a:dk2>
      <a:lt2>
        <a:srgbClr val="DFE0DE"/>
      </a:lt2>
      <a:accent1>
        <a:srgbClr val="C9962B"/>
      </a:accent1>
      <a:accent2>
        <a:srgbClr val="B5651D"/>
      </a:accent2>
      <a:accent3>
        <a:srgbClr val="6A7179"/>
      </a:accent3>
      <a:accent4>
        <a:srgbClr val="1B2430"/>
      </a:accent4>
      <a:accent5>
        <a:srgbClr val="4A5563"/>
      </a:accent5>
      <a:accent6>
        <a:srgbClr val="6B7280"/>
      </a:accent6>
      <a:hlink>
        <a:srgbClr val="0563C1"/>
      </a:hlink>
      <a:folHlink>
        <a:srgbClr val="954F72"/>
      </a:folHlink>
    </a:clrScheme>
    <a:fontScheme name="Phase 2 – Implementation Core">
      <a:majorFont>
        <a:latin typeface="Consola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4867</Words>
  <Application>Microsoft Office PowerPoint</Application>
  <PresentationFormat>Widescreen</PresentationFormat>
  <Paragraphs>803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Consolas</vt:lpstr>
      <vt:lpstr>Georgia</vt:lpstr>
      <vt:lpstr>Phase 2 – Implementation Core</vt:lpstr>
      <vt:lpstr>Adaptive Learning Platform</vt:lpstr>
      <vt:lpstr>From Phase 1 to Phase 2</vt:lpstr>
      <vt:lpstr>DDL Scripts: From Relational Model to PostgreSQL</vt:lpstr>
      <vt:lpstr>DDL Scripts for Strong Entities (1 of 2)</vt:lpstr>
      <vt:lpstr>DDL Scripts for Learning Items and Subclasses</vt:lpstr>
      <vt:lpstr>DDL Scripts for Multivalued Attributes and Weak Entities</vt:lpstr>
      <vt:lpstr>DDL Scripts for Many-to-Many Relationships</vt:lpstr>
      <vt:lpstr>Schema Verification and Constraint Summary</vt:lpstr>
      <vt:lpstr>Populating the Database with Sample Data</vt:lpstr>
      <vt:lpstr>Populating Strong Entities — Users and Topics</vt:lpstr>
      <vt:lpstr>Populating Learning Items</vt:lpstr>
      <vt:lpstr>Populating Subclass Tables — Quiz and Project</vt:lpstr>
      <vt:lpstr>Populating Project Technologies and Questions</vt:lpstr>
      <vt:lpstr>Populating Learning Records</vt:lpstr>
      <vt:lpstr>Populating Topic Proficiency and Recommendations</vt:lpstr>
      <vt:lpstr>Data Population Verification</vt:lpstr>
      <vt:lpstr>Front-End Design</vt:lpstr>
      <vt:lpstr>Business Logic: Rules Behind the Front End</vt:lpstr>
      <vt:lpstr>Validation Rules</vt:lpstr>
      <vt:lpstr>Recording an Attempt</vt:lpstr>
      <vt:lpstr>Grading a Quiz Attempt</vt:lpstr>
      <vt:lpstr>Updating Topic Proficiency Automatically</vt:lpstr>
      <vt:lpstr>Identifying Strong and Weak Topics</vt:lpstr>
      <vt:lpstr>Generating Recommendations for Weak Topics</vt:lpstr>
      <vt:lpstr>Leaderboard</vt:lpstr>
      <vt:lpstr>Account and Administrator Rules</vt:lpstr>
      <vt:lpstr>Redis and Qdrant: Integration Plan</vt:lpstr>
      <vt:lpstr>Testing the Business Rules</vt:lpstr>
      <vt:lpstr>Conclusion and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2 – Implementation Core</dc:title>
  <dc:subject/>
  <dc:creator/>
  <cp:lastModifiedBy>Soham Hippalgaonkar</cp:lastModifiedBy>
  <cp:revision>3</cp:revision>
  <dcterms:created xsi:type="dcterms:W3CDTF">2026-10-14T18:47:58Z</dcterms:created>
  <dcterms:modified xsi:type="dcterms:W3CDTF">2026-10-14T18:52:56Z</dcterms:modified>
</cp:coreProperties>
</file>