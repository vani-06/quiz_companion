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245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46761"/>
            <a:ext cx="109728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700" dirty="0">
                <a:solidFill>
                  <a:srgbClr val="14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428751"/>
            <a:ext cx="10769600" cy="4616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46761"/>
            <a:ext cx="109728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700" dirty="0">
                <a:solidFill>
                  <a:srgbClr val="14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428751"/>
            <a:ext cx="10769600" cy="4616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97660"/>
            <a:ext cx="10464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Integration &amp; Delivery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16000" y="2059940"/>
            <a:ext cx="1046480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2300" b="1" i="0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SkillSync: Adaptive Quiz Recommendation &amp; Learning Analytics Platform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16000" y="2851150"/>
            <a:ext cx="10464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end, database connectivity, testing and demonstration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3348990"/>
            <a:ext cx="1270000" cy="19050"/>
          </a:xfrm>
          <a:prstGeom prst="rect">
            <a:avLst/>
          </a:prstGeom>
          <a:solidFill>
            <a:srgbClr val="9AA3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1016000" y="3545840"/>
            <a:ext cx="196215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1000" y="3545840"/>
            <a:ext cx="850265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 Singh (25BBS0115)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Soham Anup Hippalgaonkar (25BDS0201)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Chethan Kumar Konduru (25BAI0182)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Vishnuprasad AR (25BCB0143)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4688840"/>
            <a:ext cx="19621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1000" y="4688840"/>
            <a:ext cx="85026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Database Systems, VIT Vellore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16000" y="4974590"/>
            <a:ext cx="19621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1000" y="4974590"/>
            <a:ext cx="85026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Somasundaram 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From Phase 2 to Phase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3258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Phase 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EER model, relational schema, normalisation to 3NF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10 tables, 12 foreign keys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Phase 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PostgreSQL DDL, sample data, business logic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36 rows; functions, triggers, views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Phase 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Web front end, JDBC client, full CRUD, validation, tests, recommendations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 screens, 31 automated tests, pgvector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9904" y="3383280"/>
            <a:ext cx="10972800" cy="2194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84B"/>
                </a:solidFill>
                <a:latin typeface="Arial"/>
              </a:rPr>
              <a:t>Phase 3 adds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A React web app and an Express API that read and write PostgreSQL on every screen.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Java JDBC and PowerShell ODBC clients that run the same retrieval, DML and business-logic functions.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Quiz taking graded inside the database, student sign-up, leaderboard and full edit/delete.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Similar-item recommendations with vector embeddings (pgvector), on top of weak-topic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Part 9 · Database connectivity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Connectivity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3</a:t>
            </a:r>
          </a:p>
        </p:txBody>
      </p:sp>
      <p:pic>
        <p:nvPicPr>
          <p:cNvPr id="5" name="Picture 4" descr="diagram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28" y="1280160"/>
            <a:ext cx="6985953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371600"/>
            <a:ext cx="3474720" cy="4754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84B"/>
                </a:solidFill>
                <a:latin typeface="Arial"/>
              </a:rPr>
              <a:t>Three tiers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React screens call an Express API over HTTP.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The API validates input and runs parameterised SQL through a node-postgres connection pool.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A Java client (JDBC) and a PowerShell client (ODBC) connect straight to PostgreSQL.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All rules live in the database, so every client behaves the same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Part 9 · Database connectivity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CRUD from the Front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2801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713232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Operation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Screen / button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SQL executed (parameterised)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Create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Topics → Add topic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INSERT INTO topic (name, description, parent_topic_id) VALUES ($1, $2, $3)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Create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Learning Items → Add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INSERT INTO learning_item … + quiz or project + project_tech (one transaction)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Read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Dashboard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SELECT … FROM learning_record, topic_proficiency, recommendation WHERE user_id = $1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Update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Topics → Edit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UPDATE topic SET name = $2, description = $3, parent_topic_id = $4 WHERE topic_id = $1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Update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Dashboard → Done / Dismiss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UPDATE recommendation SET status = $3 WHERE user_id = $1 AND item_id = $2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Delete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Topics → Delete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DELETE FROM topic WHERE topic_id = $1  (guarded by a trigger)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Quizzes → Submit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SELECT grade_quiz($1, $2::jsonb); SELECT record_attempt($1, $2, 'completed', $3)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Account → Sign up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SELECT register_user($1, $2, $3)  (password already hashed)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Part 7 · Front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Front-End Screens on Live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5</a:t>
            </a:r>
          </a:p>
        </p:txBody>
      </p:sp>
      <p:pic>
        <p:nvPicPr>
          <p:cNvPr id="5" name="Picture 4" descr="us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789273"/>
            <a:ext cx="5394960" cy="2547933"/>
          </a:xfrm>
          <a:prstGeom prst="rect">
            <a:avLst/>
          </a:prstGeom>
        </p:spPr>
      </p:pic>
      <p:pic>
        <p:nvPicPr>
          <p:cNvPr id="6" name="Picture 5" descr="user_take_qu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729560"/>
            <a:ext cx="5394960" cy="26673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904" y="4892040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"/>
              </a:rPr>
              <a:t>Dashboard: attempts, proficiency chart, recent attempts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4892040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"/>
              </a:rPr>
              <a:t>Take quiz: graded by grade_quiz() in the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" y="5349240"/>
            <a:ext cx="1097280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Seven screens: Dashboard, My Learning, Quizzes, Leaderboard, Learning Items, Topics, Account. Nothing is hard-coded: every number comes from the 11 PostgreSQL 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Part 8 · Business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What Happens When a Student Takes a Quiz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7044" y="1371600"/>
            <a:ext cx="1874519" cy="77724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1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Submit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1564" y="1572768"/>
            <a:ext cx="411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3044" y="1371600"/>
            <a:ext cx="1874519" cy="77724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2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grade_quiz scores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747564" y="1572768"/>
            <a:ext cx="411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59044" y="1371600"/>
            <a:ext cx="1874519" cy="77724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3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record_attempt saves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33564" y="1572768"/>
            <a:ext cx="411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5044" y="1371600"/>
            <a:ext cx="1874519" cy="77724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4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Trigger updates proficiency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19564" y="1572768"/>
            <a:ext cx="411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1044" y="1371600"/>
            <a:ext cx="1874519" cy="77724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5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Result shown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9904" y="2560320"/>
          <a:ext cx="109727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0"/>
                <a:gridCol w="3474719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Enforced by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Valid scores and dates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Score 0–100; status from a fixed list; no finish before start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CHECK constraints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Attempt numbering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Next attempt number is calculated, never typed; advisory lock prevents clashes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record_attempt()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Grading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Marks earned ÷ total marks × 100; pass if ≥ pass_mark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grade_quiz()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Proficiency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Latest scored attempt per topic; attempts counted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Trigger on learning_record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Leaderboard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Only each student's best score per item counts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View v_leaderboard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Protected topics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A topic that still has items cannot be deleted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Trigger on topic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Part 8 · Business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Recommendations: Weak Topics and Vector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7</a:t>
            </a:r>
          </a:p>
        </p:txBody>
      </p:sp>
      <p:pic>
        <p:nvPicPr>
          <p:cNvPr id="5" name="Picture 4" descr="user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2324493"/>
            <a:ext cx="6035040" cy="28490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371600"/>
            <a:ext cx="4754880" cy="4754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84B"/>
                </a:solidFill>
                <a:latin typeface="Arial"/>
              </a:rPr>
              <a:t>Two methods in one button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Topic: every item in a topic below 70, weakest first.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Similar: each item is a 384-number vector (all-MiniLM-L6-v2). A student's profile is the average of their attempts, weighted towards low scores.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Unattempted items closest to the profile are recommended, with a reason such as “Builds on Stack Operations, which you passed”.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pgvector keeps embeddings in PostgreSQL, so one SQL query joins them with attempts.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Part 9 · Database connectivity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Evidence: Create, Update and Delete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8</a:t>
            </a:r>
          </a:p>
        </p:txBody>
      </p:sp>
      <p:pic>
        <p:nvPicPr>
          <p:cNvPr id="5" name="Picture 4" descr="user_sql_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551096"/>
            <a:ext cx="7132320" cy="6925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79" y="1600200"/>
            <a:ext cx="3657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284B"/>
                </a:solidFill>
                <a:latin typeface="Arial"/>
              </a:rPr>
              <a:t>Create: row inserted from the Topics screen</a:t>
            </a:r>
          </a:p>
        </p:txBody>
      </p:sp>
      <p:pic>
        <p:nvPicPr>
          <p:cNvPr id="7" name="Picture 6" descr="user_sql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05" y="2651760"/>
            <a:ext cx="6345117" cy="12344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55279" y="2971800"/>
            <a:ext cx="3657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284B"/>
                </a:solidFill>
                <a:latin typeface="Arial"/>
              </a:rPr>
              <a:t>Update: the new description is saved</a:t>
            </a:r>
          </a:p>
        </p:txBody>
      </p:sp>
      <p:pic>
        <p:nvPicPr>
          <p:cNvPr id="9" name="Picture 8" descr="user_sql_del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" y="4114955"/>
            <a:ext cx="7132320" cy="10512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55279" y="4343400"/>
            <a:ext cx="3657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284B"/>
                </a:solidFill>
                <a:latin typeface="Arial"/>
              </a:rPr>
              <a:t>Delete: no matching row remains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904" y="5440680"/>
            <a:ext cx="1097280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Each action was done in the running web app and checked with a SELECT in psql. The same operations run from Java through JDBC PreparedStatements; multi-table changes use one transaction.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Part 10 · Testing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Constraint Violations and Error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9</a:t>
            </a:r>
          </a:p>
        </p:txBody>
      </p:sp>
      <p:pic>
        <p:nvPicPr>
          <p:cNvPr id="5" name="Picture 4" descr="user_error_dupl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357276"/>
            <a:ext cx="5486400" cy="2954727"/>
          </a:xfrm>
          <a:prstGeom prst="rect">
            <a:avLst/>
          </a:prstGeom>
        </p:spPr>
      </p:pic>
      <p:pic>
        <p:nvPicPr>
          <p:cNvPr id="6" name="Picture 5" descr="user_error_tri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554146"/>
            <a:ext cx="5394960" cy="25609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904" y="443484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"/>
              </a:rPr>
              <a:t>UNIQUE violation: duplicate topic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4434840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"/>
              </a:rPr>
              <a:t>Trigger: topic still has learning items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904" y="4846320"/>
          <a:ext cx="10972798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234"/>
                <a:gridCol w="2862469"/>
                <a:gridCol w="954156"/>
                <a:gridCol w="5724939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SQLSTATE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HTTP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Message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23505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Unique violation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That value already exists (unique constraint).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23503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Foreign key violation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Blocked by a related record (foreign key constraint).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23514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Check violation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  <a:latin typeface="Arial"/>
                        </a:rPr>
                        <a:t>A value is outside the allowed range (check constraint).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Part 9 · Database connectivity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JDBC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1280160"/>
            <a:ext cx="6766560" cy="3931920"/>
          </a:xfrm>
          <a:prstGeom prst="round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String sql = "INSERT INTO topic (name, description,"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          + " parent_topic_id) VALUES (?, ?, ?)"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          + " RETURNING topic_id";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try (PreparedStatement st = db.prepareStatement(sql)) {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   st.setString(1, name);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   st.setString(2, description);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   st.setObject(3, parentId);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   ResultSet rs = st.executeQuery();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// grade and record in one transaction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db.setAutoCommit(false);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SELECT grade_quiz(?, ?::jsonb)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SELECT record_attempt(?, ?, 'completed', ?::numeric)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db.commit();   // db.rollback() on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280160"/>
            <a:ext cx="4023360" cy="3931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84B"/>
                </a:solidFill>
                <a:latin typeface="Arial"/>
              </a:rPr>
              <a:t>jdbc/JdbcDemo.java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PostgreSQL JDBC driver 42.7.4, Java 21.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Menu: list, add, rename and delete topics; list items; take a quiz; leaderboard.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--demo runs every operation in turn, including a rejected delete.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Password comes from DB_PASSWORD or a prompt, never from source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Part 9 · Database connectivity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ODBC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1280160"/>
            <a:ext cx="6766560" cy="3931920"/>
          </a:xfrm>
          <a:prstGeom prst="round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$driver = Get-OdbcDriver -Platform '64-bit' |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   Where-Object Name -like '*UNICODE*'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$cs = "Driver={$($driver.Name)};Server=localhost;"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   + "Port=5432;Database=quiz_companion;Uid=postgres;Pwd=..."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$db = New-Object System.Data.Odbc.OdbcConnection($cs)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$db.Open()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# parameterised INSERT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INSERT INTO topic (name, description, parent_topic_id)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VALUES (?, ?, ?) RETURNING topic_id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# grade and record in one transaction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SELECT grade_quiz(?, CAST(? AS jsonb))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SELECT record_attempt(?, ?, 'completed', CAST(? AS numeric))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AF2"/>
                </a:solidFill>
                <a:latin typeface="Consolas"/>
              </a:rPr>
              <a:t>$tx.Commit()   # $tx.Rollback() on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280160"/>
            <a:ext cx="4023360" cy="3931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84B"/>
                </a:solidFill>
                <a:latin typeface="Arial"/>
              </a:rPr>
              <a:t>odbc/OdbcDemo.ps1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PostgreSQL ODBC driver (psqlODBC, Unicode, 64-bit) through System.Data.Odbc.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Same menu and -Demo run as the JDBC client.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The demo ends with a rejected delete: trigger error 23001 “Topic 3 still has learning items”.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The quiz attempt is rolled back, so the sample data stays unchanged.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Part 10 · Testing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Test Strategy and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280160"/>
          <a:ext cx="58521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75360"/>
                <a:gridCol w="975360"/>
                <a:gridCol w="9753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Failed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Functional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Constraint violation (incl. triggers, functions)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Error handling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Total documented cases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9904" y="3749039"/>
            <a:ext cx="5852160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84B"/>
                </a:solidFill>
                <a:latin typeface="Arial"/>
              </a:rPr>
              <a:t>Three levels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SQL: business_logic_tests.sql, rolled back.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API: 31 automated tests on a separate, rebuilt test database.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Front end, JDBC and ODBC: each run with valid and invalid input.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One case failed first (NOW() vs TIMESTAMPTZ) and passed after the fix.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4937760" cy="4846320"/>
          </a:xfrm>
          <a:prstGeom prst="round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PASS connectivity and retrieval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PASS topics CRUD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PASS learning items CRUD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PASS questions CRUD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PASS business rules through the API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PASS accounts and users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PASS error handling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PASS vector recommendations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tests 31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pass 31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6EAF2"/>
                </a:solidFill>
                <a:latin typeface="Consolas"/>
              </a:rPr>
              <a:t>fail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Scope Achieved Against Phase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2801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63040"/>
                <a:gridCol w="585216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Module (Phase 1 scope)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Remarks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Topics, quizzes, projects, questions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Full CRUD from the front end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Quiz taking and grading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grade_quiz() and record_attempt() in one transaction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Attempt history and topic proficiency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Maintained by trigger trg_update_proficiency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Recommendations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Weak-topic rule plus pgvector similarity (replaces Qdrant)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Leaderboard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View v_leaderboard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Student accounts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Partly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Sign-up and sign-in with hashed passwords; no sessions or roles yet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Caching of frequent reads (Redis)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Not built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Indexes added instead; not needed at this data size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Database connectivity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node-postgres for the web app; JDBC and ODBC console clients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Live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7044" y="1371600"/>
            <a:ext cx="1874519" cy="77724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1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Sign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1564" y="1572768"/>
            <a:ext cx="411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3044" y="1371600"/>
            <a:ext cx="1874519" cy="77724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2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Take a quiz</a:t>
            </a:r>
          </a:p>
        </p:txBody>
      </p:sp>
      <p:sp>
        <p:nvSpPr>
          <p:cNvPr id="8" name="Rectangle 7"/>
          <p:cNvSpPr/>
          <p:nvPr/>
        </p:nvSpPr>
        <p:spPr>
          <a:xfrm>
            <a:off x="4747564" y="1572768"/>
            <a:ext cx="411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59044" y="1371600"/>
            <a:ext cx="1874519" cy="77724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3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See proficiency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33564" y="1572768"/>
            <a:ext cx="411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5044" y="1371600"/>
            <a:ext cx="1874519" cy="77724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4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Refresh recommendations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19564" y="1572768"/>
            <a:ext cx="411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1044" y="1371600"/>
            <a:ext cx="1874519" cy="77724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5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Leaderboard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" y="2651760"/>
            <a:ext cx="10972800" cy="3291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284B"/>
                </a:solidFill>
                <a:latin typeface="Arial"/>
              </a:rPr>
              <a:t>Then show the database side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psql: SELECT the new attempt and the updated topic_proficiency row.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Topics: add, edit, delete, then try to delete Arrays to show the trigger message.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Java and ODBC: run JdbcDemo --demo and OdbcDemo.ps1 -Demo; the same functions are called.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Terminal: npm test, 31 of 31 passing.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384048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2B"/>
                </a:solidFill>
                <a:latin typeface="Arial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713232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84B"/>
                </a:solidFill>
                <a:latin typeface="Georgia"/>
              </a:rPr>
              <a:t>Conclusion and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364224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179"/>
                </a:solidFill>
                <a:latin typeface="Arial"/>
              </a:rPr>
              <a:t>SkillSync · Phase 3 ·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28016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Phase 3 outcome</a:t>
                      </a:r>
                    </a:p>
                  </a:txBody>
                  <a:tcPr marT="36576" marB="36576">
                    <a:solidFill>
                      <a:srgbClr val="E2E2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Design to delivery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Phase 1 EER and 3NF schema implemented in PostgreSQL and used by a working application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Connectivity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Web app through node-postgres; Java client through JDBC; PowerShell client through ODBC; all CRUD operations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Database logic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Constraints, functions, triggers and views enforce every rule for every client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23 documented test cases, 31 automated tests, all passing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Beyond the plan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pgvector similarity recommendations; indexes on foreign keys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9904" y="4480560"/>
            <a:ext cx="10972800" cy="1645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84B"/>
                </a:solidFill>
                <a:latin typeface="Arial"/>
              </a:rPr>
              <a:t>Next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Session tokens and role-based access · enforced quiz time limits · Redis leaderboard cache at scale · automatic recommendations after every attempt.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ase 2 – Implementation Core">
  <a:themeElements>
    <a:clrScheme name="Phase 2 – Implementation Core">
      <a:dk1>
        <a:srgbClr val="14284B"/>
      </a:dk1>
      <a:lt1>
        <a:srgbClr val="F6F4EE"/>
      </a:lt1>
      <a:dk2>
        <a:srgbClr val="4D5B74"/>
      </a:dk2>
      <a:lt2>
        <a:srgbClr val="DFE0DE"/>
      </a:lt2>
      <a:accent1>
        <a:srgbClr val="C9962B"/>
      </a:accent1>
      <a:accent2>
        <a:srgbClr val="B5651D"/>
      </a:accent2>
      <a:accent3>
        <a:srgbClr val="6A7179"/>
      </a:accent3>
      <a:accent4>
        <a:srgbClr val="1B2430"/>
      </a:accent4>
      <a:accent5>
        <a:srgbClr val="4A5563"/>
      </a:accent5>
      <a:accent6>
        <a:srgbClr val="6B7280"/>
      </a:accent6>
      <a:hlink>
        <a:srgbClr val="0563C1"/>
      </a:hlink>
      <a:folHlink>
        <a:srgbClr val="954F72"/>
      </a:folHlink>
    </a:clrScheme>
    <a:fontScheme name="Phase 2 – Implementation Cor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4867</Words>
  <Application>Microsoft Office PowerPoint</Application>
  <PresentationFormat>Widescreen</PresentationFormat>
  <Paragraphs>803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Georgia</vt:lpstr>
      <vt:lpstr>Phase 2 – Implementation Core</vt:lpstr>
      <vt:lpstr>Adaptive Learning Platform</vt:lpstr>
      <vt:lpstr>From Phase 1 to Phase 2</vt:lpstr>
      <vt:lpstr>DDL Scripts: From Relational Model to PostgreSQL</vt:lpstr>
      <vt:lpstr>DDL Scripts for Strong Entities (1 of 2)</vt:lpstr>
      <vt:lpstr>DDL Scripts for Learning Items and Subclasses</vt:lpstr>
      <vt:lpstr>DDL Scripts for Multivalued Attributes and Weak Entities</vt:lpstr>
      <vt:lpstr>DDL Scripts for Many-to-Many Relationships</vt:lpstr>
      <vt:lpstr>Schema Verification and Constraint Summary</vt:lpstr>
      <vt:lpstr>Populating the Database with Sample Data</vt:lpstr>
      <vt:lpstr>Populating Strong Entities — Users and Topics</vt:lpstr>
      <vt:lpstr>Populating Learning Items</vt:lpstr>
      <vt:lpstr>Populating Subclass Tables — Quiz and Project</vt:lpstr>
      <vt:lpstr>Populating Project Technologies and Questions</vt:lpstr>
      <vt:lpstr>Populating Learning Records</vt:lpstr>
      <vt:lpstr>Populating Topic Proficiency and Recommendations</vt:lpstr>
      <vt:lpstr>Data Population Verification</vt:lpstr>
      <vt:lpstr>Front-End Design</vt:lpstr>
      <vt:lpstr>Business Logic: Rules Behind the Front End</vt:lpstr>
      <vt:lpstr>Validation Rules</vt:lpstr>
      <vt:lpstr>Recording an Attempt</vt:lpstr>
      <vt:lpstr>Grading a Quiz Attempt</vt:lpstr>
      <vt:lpstr>Updating Topic Proficiency Automatically</vt:lpstr>
      <vt:lpstr>Identifying Strong and Weak Topics</vt:lpstr>
      <vt:lpstr>Generating Recommendations for Weak Topics</vt:lpstr>
      <vt:lpstr>Leaderboard</vt:lpstr>
      <vt:lpstr>Account and Administrator Rules</vt:lpstr>
      <vt:lpstr>Redis and Qdrant: Integration Plan</vt:lpstr>
      <vt:lpstr>Testing the Business Rules</vt:lpstr>
      <vt:lpstr>Conclusion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 – Implementation Core</dc:title>
  <dc:subject/>
  <dc:creator/>
  <cp:lastModifiedBy>Soham Hippalgaonkar</cp:lastModifiedBy>
  <cp:revision>3</cp:revision>
  <dcterms:created xsi:type="dcterms:W3CDTF">2026-10-14T18:47:58Z</dcterms:created>
  <dcterms:modified xsi:type="dcterms:W3CDTF">2026-10-14T18:52:56Z</dcterms:modified>
</cp:coreProperties>
</file>